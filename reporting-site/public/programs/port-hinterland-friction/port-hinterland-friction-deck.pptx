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Trade volume did not predict observed port delay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direct CPPI construct test for an inherited national logistics screen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national screen fails at the port boundary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 imports × perceived national logistics performance stand in for observed port-hinterland friction?</a:t>
            </a:r>
          </a:p>
          <a:p>
            <a:pPr lvl="0" indent="0" marL="0">
              <a:buNone/>
            </a:pPr>
            <a:r>
              <a:rPr b="1"/>
              <a:t>Finding: only 1 of 5 inherited top-five members remains in the main CPPI port-time diagnostic.</a:t>
            </a:r>
          </a:p>
        </p:txBody>
      </p:sp>
      <p:pic>
        <p:nvPicPr>
          <p:cNvPr descr="../../port-hinterland-friction/generated/charts/port-two-gate-valid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54100"/>
            <a:ext cx="51054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China and India fall sharply in the direct test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China moves from inherited rank 1 to observed-disadvantage rank 12; India from 2 to 10.</a:t>
            </a:r>
          </a:p>
        </p:txBody>
      </p:sp>
      <p:pic>
        <p:nvPicPr>
          <p:cNvPr descr="../../port-hinterland-friction/generated/charts/port-rank-invers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32200" y="203200"/>
            <a:ext cx="49657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common sample contains 65 observed ports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World Bank CPPI 2025 annex: 426 ports.</a:t>
            </a:r>
          </a:p>
          <a:p>
            <a:pPr lvl="0"/>
            <a:r>
              <a:rPr/>
              <a:t>ADB developing member economies with 2025 scores: 16.</a:t>
            </a:r>
          </a:p>
          <a:p>
            <a:pPr lvl="0"/>
            <a:r>
              <a:rPr/>
              <a:t>Main common diagnostic: 65 ports in 13 economies.</a:t>
            </a:r>
          </a:p>
        </p:txBody>
      </p:sp>
      <p:pic>
        <p:nvPicPr>
          <p:cNvPr descr="../../port-hinterland-friction/generated/charts/port-source-alignment-fun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16000"/>
            <a:ext cx="5105400" cy="275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test varies the observed-data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Keep 2025 ports with at least 48 sampled calls.</a:t>
            </a:r>
          </a:p>
          <a:p>
            <a:pPr lvl="0" indent="-342900" marL="342900">
              <a:buAutoNum type="arabicPeriod"/>
            </a:pPr>
            <a:r>
              <a:rPr/>
              <a:t>Take the country median CPPI as a diagnostic.</a:t>
            </a:r>
          </a:p>
          <a:p>
            <a:pPr lvl="0" indent="-342900" marL="342900">
              <a:buAutoNum type="arabicPeriod"/>
            </a:pPr>
            <a:r>
              <a:rPr/>
              <a:t>Compare top-five membership with the inherited screen.</a:t>
            </a:r>
          </a:p>
          <a:p>
            <a:pPr lvl="0" indent="-342900" marL="342900">
              <a:buAutoNum type="arabicPeriod"/>
            </a:pPr>
            <a:r>
              <a:rPr/>
              <a:t>Vary year, call threshold, and aggregation.</a:t>
            </a:r>
          </a:p>
          <a:p>
            <a:pPr lvl="0" indent="-342900" marL="342900">
              <a:buAutoNum type="arabicPeriod"/>
            </a:pPr>
            <a:r>
              <a:rPr/>
              <a:t>Bootstrap rank correlations with 2,000 deterministic draws.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 specification recovers more than two of five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Top-five overlap ranges from zero to two. Four variants have zero overlap.</a:t>
            </a:r>
          </a:p>
        </p:txBody>
      </p:sp>
      <p:pic>
        <p:nvPicPr>
          <p:cNvPr descr="../../port-hinterland-friction/generated/charts/port-cppi-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00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strongest association points the other way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Call-weighted Spearman association: </a:t>
            </a:r>
            <a:r>
              <a:rPr b="1"/>
              <a:t>−0.57</a:t>
            </a:r>
          </a:p>
          <a:p>
            <a:pPr lvl="0" indent="0" marL="0">
              <a:buNone/>
            </a:pPr>
            <a:r>
              <a:rPr/>
              <a:t>95% bootstrap interval: </a:t>
            </a:r>
            <a:r>
              <a:rPr b="1"/>
              <a:t>−0.83 to −0.11</a:t>
            </a:r>
          </a:p>
        </p:txBody>
      </p:sp>
      <p:pic>
        <p:nvPicPr>
          <p:cNvPr descr="../../port-hinterland-friction/generated/charts/port-proxy-vs-cpp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71500"/>
            <a:ext cx="5105400" cy="363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Country summaries hide operating differences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national trade or survey score cannot identify which port is the operating bottleneck.</a:t>
            </a:r>
          </a:p>
        </p:txBody>
      </p:sp>
      <p:pic>
        <p:nvPicPr>
          <p:cNvPr descr="../../port-hinterland-friction/generated/charts/port-cppi-distribu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57200"/>
            <a:ext cx="5105400" cy="388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Retire the proxy; keep the evidence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Use:</a:t>
            </a:r>
            <a:r>
              <a:rPr/>
              <a:t> retire the inherited proxy; use CPPI for port-boundary diagnostics.</a:t>
            </a:r>
          </a:p>
          <a:p>
            <a:pPr lvl="0" indent="0" marL="0">
              <a:buNone/>
            </a:pPr>
            <a:r>
              <a:rPr b="1"/>
              <a:t>Do not claim:</a:t>
            </a:r>
            <a:r>
              <a:rPr/>
              <a:t> an official economy ranking, corridor delay, customs performance, inland reliability, logistics cost, or causal effects.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next valid upgrade is shipment-level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Join the official World Bank LPI 2.0 shipment file to the CPPI port layer. Preserve route, vintage, sample, and coverage limits.</a:t>
            </a:r>
          </a:p>
          <a:p>
            <a:pPr lvl="0" indent="0" marL="0">
              <a:buNone/>
            </a:pPr>
            <a:r>
              <a:rPr/>
              <a:t>The interactive file is currently access-blocked; do not substitute another national proxy.</a:t>
            </a:r>
          </a:p>
          <a:p>
            <a:pPr lvl="0" indent="0" marL="0">
              <a:buNone/>
            </a:pPr>
            <a:r>
              <a:rPr i="1"/>
              <a:t>AI-first prepared pipeline; not externally reviewed.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 volume did not predict observed port delay</dc:title>
  <dc:creator/>
  <cp:keywords/>
  <dcterms:created xsi:type="dcterms:W3CDTF">2026-07-18T22:35:40Z</dcterms:created>
  <dcterms:modified xsi:type="dcterms:W3CDTF">2026-07-18T22:35:40Z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biblio-config">
    <vt:lpwstr>True</vt:lpwstr>
  </property>
  <property fmtid="{D5CDD505-2E9C-101B-9397-08002B2CF9AE}" pid="4" name="engines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maturity">
    <vt:lpwstr>PP</vt:lpwstr>
  </property>
  <property fmtid="{D5CDD505-2E9C-101B-9397-08002B2CF9AE}" pid="10" name="program">
    <vt:lpwstr>port-hinterland-friction</vt:lpwstr>
  </property>
  <property fmtid="{D5CDD505-2E9C-101B-9397-08002B2CF9AE}" pid="11" name="slug">
    <vt:lpwstr>port-friction-trade-volume-cluster-slides</vt:lpwstr>
  </property>
  <property fmtid="{D5CDD505-2E9C-101B-9397-08002B2CF9AE}" pid="12" name="status">
    <vt:lpwstr>draft</vt:lpwstr>
  </property>
  <property fmtid="{D5CDD505-2E9C-101B-9397-08002B2CF9AE}" pid="13" name="subtitle">
    <vt:lpwstr>A direct CPPI construct test for an inherited national logistics screen</vt:lpwstr>
  </property>
  <property fmtid="{D5CDD505-2E9C-101B-9397-08002B2CF9AE}" pid="14" name="toc-title">
    <vt:lpwstr>Table of contents</vt:lpwstr>
  </property>
</Properties>
</file>