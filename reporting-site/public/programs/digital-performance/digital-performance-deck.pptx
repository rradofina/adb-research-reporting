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sv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network is present. Use still lags.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nine-slide evidence deck on availability and use across ADB developing member economies.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 — Decision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reported 4G/LTE availability is high, are people actually using the Internet at the same rate?</a:t>
            </a:r>
          </a:p>
          <a:p>
            <a:pPr lvl="0" indent="0" marL="0">
              <a:buNone/>
            </a:pPr>
            <a:r>
              <a:rPr b="1"/>
              <a:t>Why it matters:</a:t>
            </a:r>
            <a:r>
              <a:rPr/>
              <a:t> rollout, adoption, affordability, and quality require different interventions.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— Main finding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2024, reported 4G availability exceeds internet use in </a:t>
            </a:r>
            <a:r>
              <a:rPr b="1"/>
              <a:t>31 of 34</a:t>
            </a:r>
            <a:r>
              <a:rPr/>
              <a:t> exact-year ADB developing member cases.</a:t>
            </a:r>
          </a:p>
          <a:p>
            <a:pPr lvl="0" indent="0" marL="0">
              <a:buNone/>
            </a:pPr>
            <a:r>
              <a:rPr/>
              <a:t>Median difference: </a:t>
            </a:r>
            <a:r>
              <a:rPr b="1"/>
              <a:t>14.3 percentage points</a:t>
            </a:r>
            <a:r>
              <a:rPr/>
              <a:t>.</a:t>
            </a:r>
          </a:p>
        </p:txBody>
      </p:sp>
      <p:pic>
        <p:nvPicPr>
          <p:cNvPr descr="../../digital-performance/generated/charts/digital-performance-01-availability-use-gap-her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46500" y="203200"/>
            <a:ext cx="4762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— Two constructs, not one score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Availability:</a:t>
            </a:r>
            <a:r>
              <a:rPr/>
              <a:t> population within range of at least a 4G/LTE signal.</a:t>
            </a:r>
          </a:p>
          <a:p>
            <a:pPr lvl="0" indent="0" marL="0">
              <a:buNone/>
            </a:pPr>
            <a:r>
              <a:rPr b="1"/>
              <a:t>Use:</a:t>
            </a:r>
            <a:r>
              <a:rPr/>
              <a:t> individuals who used the Internet in the previous three months.</a:t>
            </a:r>
          </a:p>
          <a:p>
            <a:pPr lvl="0" indent="0" marL="0">
              <a:buNone/>
            </a:pPr>
            <a:r>
              <a:rPr b="1"/>
              <a:t>Gap:</a:t>
            </a:r>
            <a:r>
              <a:rPr/>
              <a:t> coverage minus use for the same economy and year.</a:t>
            </a:r>
          </a:p>
          <a:p>
            <a:pPr lvl="0" indent="0" marL="0">
              <a:buNone/>
            </a:pPr>
            <a:r>
              <a:rPr/>
              <a:t>It is not a person-level count, speed measure, or causal effect.</a:t>
            </a:r>
          </a:p>
        </p:txBody>
      </p:sp>
      <p:pic>
        <p:nvPicPr>
          <p:cNvPr descr="../../digital-performance/generated/charts/digital-performance-12-method-and-claim-gat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76300"/>
            <a:ext cx="51054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— Near-universal coverage can coexist with much lower use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Bangladesh, Sri Lanka, India, and the Philippines all report coverage near 100% and use far below it.</a:t>
            </a:r>
          </a:p>
        </p:txBody>
      </p:sp>
      <p:pic>
        <p:nvPicPr>
          <p:cNvPr descr="../../digital-performance/generated/charts/digital-performance-02-components-dumbbell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46500" y="203200"/>
            <a:ext cx="4762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— Progress is uneven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balanced 2018–2024 sample contains 28 economies.</a:t>
            </a:r>
          </a:p>
          <a:p>
            <a:pPr lvl="0"/>
            <a:r>
              <a:rPr/>
              <a:t>median gap change: </a:t>
            </a:r>
            <a:r>
              <a:rPr b="1"/>
              <a:t>-5.9 points</a:t>
            </a:r>
            <a:r>
              <a:rPr/>
              <a:t>;</a:t>
            </a:r>
          </a:p>
          <a:p>
            <a:pPr lvl="0"/>
            <a:r>
              <a:rPr/>
              <a:t>narrowed: 16 economies;</a:t>
            </a:r>
          </a:p>
          <a:p>
            <a:pPr lvl="0"/>
            <a:r>
              <a:rPr/>
              <a:t>widened: 12 economies.</a:t>
            </a:r>
          </a:p>
        </p:txBody>
      </p:sp>
      <p:pic>
        <p:nvPicPr>
          <p:cNvPr descr="../../digital-performance/generated/charts/digital-performance-05-balanced-gap-chang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60800" y="203200"/>
            <a:ext cx="45339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— One price basket does not explain the gap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 5 GB basket association: Spearman </a:t>
            </a:r>
            <a:r>
              <a:rPr b="1"/>
              <a:t>0.16</a:t>
            </a:r>
            <a:r>
              <a:rPr/>
              <a:t>, n=32.</a:t>
            </a:r>
          </a:p>
          <a:p>
            <a:pPr lvl="0" indent="0" marL="0">
              <a:buNone/>
            </a:pPr>
            <a:r>
              <a:rPr/>
              <a:t>Affordability remains relevant; the national basket is not household incidence and does not measure devices, skills, trust, content, or perceived value.</a:t>
            </a:r>
          </a:p>
        </p:txBody>
      </p:sp>
      <p:pic>
        <p:nvPicPr>
          <p:cNvPr descr="../../digital-performance/generated/charts/digital-performance-06-affordability-associa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— The next data priority is within-economy visibility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ten headline cases also have same-year urban and rural use rates.</a:t>
            </a:r>
          </a:p>
          <a:p>
            <a:pPr lvl="0" indent="0" marL="0">
              <a:buNone/>
            </a:pPr>
            <a:r>
              <a:rPr/>
              <a:t>Their association with the national gap is strong (Spearman 0.93) but too small for a regional mechanism claim.</a:t>
            </a:r>
          </a:p>
        </p:txBody>
      </p:sp>
      <p:pic>
        <p:nvPicPr>
          <p:cNvPr descr="../../digital-performance/generated/charts/digital-performance-07-urban-rural-use-gap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92100"/>
            <a:ext cx="5105400" cy="421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 — Operational interpretation and reproduction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Put availability and use side by side.</a:t>
            </a:r>
          </a:p>
          <a:p>
            <a:pPr lvl="0" indent="-342900" marL="342900">
              <a:buAutoNum type="arabicPeriod"/>
            </a:pPr>
            <a:r>
              <a:rPr/>
              <a:t>Show year, source, method, and missing denominator.</a:t>
            </a:r>
          </a:p>
          <a:p>
            <a:pPr lvl="0" indent="-342900" marL="342900">
              <a:buAutoNum type="arabicPeriod"/>
            </a:pPr>
            <a:r>
              <a:rPr/>
              <a:t>Add quality, price, devices, and skills as separate layers.</a:t>
            </a:r>
          </a:p>
          <a:p>
            <a:pPr lvl="0" indent="-342900" marL="342900">
              <a:buAutoNum type="arabicPeriod"/>
            </a:pPr>
            <a:r>
              <a:rPr/>
              <a:t>Use Ookla only for performance conditional on testing.</a:t>
            </a:r>
          </a:p>
          <a:p>
            <a:pPr lvl="0" indent="0" marL="0">
              <a:buNone/>
            </a:pPr>
            <a:r>
              <a:rPr/>
              <a:t>Reproduce: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python digital-performance/scripts/build-coverage-use-gap.py --refresh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network is present. Use still lags.</dc:title>
  <dc:creator/>
  <cp:keywords/>
  <dcterms:created xsi:type="dcterms:W3CDTF">2026-07-18T22:51:53Z</dcterms:created>
  <dcterms:modified xsi:type="dcterms:W3CDTF">2026-07-18T22:51:53Z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bstract">
    <vt:lpwstr>Nine-slide presentation of the exact-year ITU availability-use study.</vt:lpwstr>
  </property>
  <property fmtid="{D5CDD505-2E9C-101B-9397-08002B2CF9AE}" pid="3" name="affiliations">
    <vt:lpwstr/>
  </property>
  <property fmtid="{D5CDD505-2E9C-101B-9397-08002B2CF9AE}" pid="4" name="attestation_chain">
    <vt:lpwstr>ai-first</vt:lpwstr>
  </property>
  <property fmtid="{D5CDD505-2E9C-101B-9397-08002B2CF9AE}" pid="5" name="authors">
    <vt:lpwstr/>
  </property>
  <property fmtid="{D5CDD505-2E9C-101B-9397-08002B2CF9AE}" pid="6" name="banned_words_check">
    <vt:lpwstr>passing</vt:lpwstr>
  </property>
  <property fmtid="{D5CDD505-2E9C-101B-9397-08002B2CF9AE}" pid="7" name="biblio-config">
    <vt:lpwstr>True</vt:lpwstr>
  </property>
  <property fmtid="{D5CDD505-2E9C-101B-9397-08002B2CF9AE}" pid="8" name="by-affiliation">
    <vt:lpwstr/>
  </property>
  <property fmtid="{D5CDD505-2E9C-101B-9397-08002B2CF9AE}" pid="9" name="by-author">
    <vt:lpwstr/>
  </property>
  <property fmtid="{D5CDD505-2E9C-101B-9397-08002B2CF9AE}" pid="10" name="constitution_ref">
    <vt:lpwstr>§18 ACTIVE 2026-04-25</vt:lpwstr>
  </property>
  <property fmtid="{D5CDD505-2E9C-101B-9397-08002B2CF9AE}" pid="11" name="dmc_framing_check">
    <vt:lpwstr>passing</vt:lpwstr>
  </property>
  <property fmtid="{D5CDD505-2E9C-101B-9397-08002B2CF9AE}" pid="12" name="engines">
    <vt:lpwstr/>
  </property>
  <property fmtid="{D5CDD505-2E9C-101B-9397-08002B2CF9AE}" pid="13" name="geographies">
    <vt:lpwstr/>
  </property>
  <property fmtid="{D5CDD505-2E9C-101B-9397-08002B2CF9AE}" pid="14" name="header-includes">
    <vt:lpwstr/>
  </property>
  <property fmtid="{D5CDD505-2E9C-101B-9397-08002B2CF9AE}" pid="15" name="include-after">
    <vt:lpwstr/>
  </property>
  <property fmtid="{D5CDD505-2E9C-101B-9397-08002B2CF9AE}" pid="16" name="include-before">
    <vt:lpwstr/>
  </property>
  <property fmtid="{D5CDD505-2E9C-101B-9397-08002B2CF9AE}" pid="17" name="kind">
    <vt:lpwstr>slides</vt:lpwstr>
  </property>
  <property fmtid="{D5CDD505-2E9C-101B-9397-08002B2CF9AE}" pid="18" name="labels">
    <vt:lpwstr/>
  </property>
  <property fmtid="{D5CDD505-2E9C-101B-9397-08002B2CF9AE}" pid="19" name="license">
    <vt:lpwstr/>
  </property>
  <property fmtid="{D5CDD505-2E9C-101B-9397-08002B2CF9AE}" pid="20" name="maturity">
    <vt:lpwstr>PP</vt:lpwstr>
  </property>
  <property fmtid="{D5CDD505-2E9C-101B-9397-08002B2CF9AE}" pid="21" name="program">
    <vt:lpwstr>digital-performance</vt:lpwstr>
  </property>
  <property fmtid="{D5CDD505-2E9C-101B-9397-08002B2CF9AE}" pid="22" name="published_at">
    <vt:lpwstr>2026-07-19</vt:lpwstr>
  </property>
  <property fmtid="{D5CDD505-2E9C-101B-9397-08002B2CF9AE}" pid="23" name="slug">
    <vt:lpwstr>digital-availability-use-gap-slides</vt:lpwstr>
  </property>
  <property fmtid="{D5CDD505-2E9C-101B-9397-08002B2CF9AE}" pid="24" name="status">
    <vt:lpwstr>draft</vt:lpwstr>
  </property>
  <property fmtid="{D5CDD505-2E9C-101B-9397-08002B2CF9AE}" pid="25" name="subtitle">
    <vt:lpwstr>A nine-slide evidence deck on availability and use across ADB developing member economies.</vt:lpwstr>
  </property>
  <property fmtid="{D5CDD505-2E9C-101B-9397-08002B2CF9AE}" pid="26" name="toc-title">
    <vt:lpwstr>Table of contents</vt:lpwstr>
  </property>
  <property fmtid="{D5CDD505-2E9C-101B-9397-08002B2CF9AE}" pid="27" name="topics">
    <vt:lpwstr/>
  </property>
</Properties>
</file>