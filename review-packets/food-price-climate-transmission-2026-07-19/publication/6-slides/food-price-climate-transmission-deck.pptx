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d452f217004ceb" /><Relationship Type="http://schemas.openxmlformats.org/officeDocument/2006/relationships/extended-properties" Target="/docProps/app.xml" Id="Rbfab5a08321c45c0" /><Relationship Type="http://schemas.openxmlformats.org/officeDocument/2006/relationships/officeDocument" Target="/ppt/presentation.xml" Id="R1fafc2f1f16d41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be83210b1649c8"/>
  </p:sldMasterIdLst>
  <p:notesMasterIdLst>
    <p:notesMasterId xmlns:r="http://schemas.openxmlformats.org/officeDocument/2006/relationships" r:id="R41e713dab9bf41db"/>
  </p:notesMasterIdLst>
  <p:sldIdLst>
    <p:sldId xmlns:r="http://schemas.openxmlformats.org/officeDocument/2006/relationships" id="256" r:id="R5088102c086a4367"/>
    <p:sldId xmlns:r="http://schemas.openxmlformats.org/officeDocument/2006/relationships" id="257" r:id="Rbd15cfb56df8483f"/>
    <p:sldId xmlns:r="http://schemas.openxmlformats.org/officeDocument/2006/relationships" id="258" r:id="Rd0f9883e870549e2"/>
    <p:sldId xmlns:r="http://schemas.openxmlformats.org/officeDocument/2006/relationships" id="259" r:id="R93f51802a466447d"/>
    <p:sldId xmlns:r="http://schemas.openxmlformats.org/officeDocument/2006/relationships" id="260" r:id="R8a2c3804f6f14e13"/>
    <p:sldId xmlns:r="http://schemas.openxmlformats.org/officeDocument/2006/relationships" id="261" r:id="R1fb634c050a74c39"/>
    <p:sldId xmlns:r="http://schemas.openxmlformats.org/officeDocument/2006/relationships" id="262" r:id="Rb1fc541df033497a"/>
    <p:sldId xmlns:r="http://schemas.openxmlformats.org/officeDocument/2006/relationships" id="263" r:id="Rb6e95a81e6124774"/>
    <p:sldId xmlns:r="http://schemas.openxmlformats.org/officeDocument/2006/relationships" id="264" r:id="R5687381d94e94f01"/>
    <p:sldId xmlns:r="http://schemas.openxmlformats.org/officeDocument/2006/relationships" id="265" r:id="R75e01200afdf4f8f"/>
    <p:sldId xmlns:r="http://schemas.openxmlformats.org/officeDocument/2006/relationships" id="266" r:id="R6b157fedeb6049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2a76f1fe4d4b43" /><Relationship Type="http://schemas.openxmlformats.org/officeDocument/2006/relationships/slideMaster" Target="/ppt/slideMasters/slideMaster1.xml" Id="Re6be83210b1649c8" /><Relationship Type="http://schemas.openxmlformats.org/officeDocument/2006/relationships/notesMaster" Target="/ppt/notesMasters/notesMaster1.xml" Id="R41e713dab9bf41db" /><Relationship Type="http://schemas.openxmlformats.org/officeDocument/2006/relationships/presProps" Target="/ppt/presProps.xml" Id="R2403cebf134f40fe" /><Relationship Type="http://schemas.openxmlformats.org/officeDocument/2006/relationships/tableStyles" Target="/ppt/tableStyles.xml" Id="R54532f74ef034c7d" /><Relationship Type="http://schemas.openxmlformats.org/officeDocument/2006/relationships/slide" Target="/ppt/slides/slide1.xml" Id="R5088102c086a4367" /><Relationship Type="http://schemas.openxmlformats.org/officeDocument/2006/relationships/slide" Target="/ppt/slides/slide2.xml" Id="Rbd15cfb56df8483f" /><Relationship Type="http://schemas.openxmlformats.org/officeDocument/2006/relationships/slide" Target="/ppt/slides/slide3.xml" Id="Rd0f9883e870549e2" /><Relationship Type="http://schemas.openxmlformats.org/officeDocument/2006/relationships/slide" Target="/ppt/slides/slide4.xml" Id="R93f51802a466447d" /><Relationship Type="http://schemas.openxmlformats.org/officeDocument/2006/relationships/slide" Target="/ppt/slides/slide5.xml" Id="R8a2c3804f6f14e13" /><Relationship Type="http://schemas.openxmlformats.org/officeDocument/2006/relationships/slide" Target="/ppt/slides/slide6.xml" Id="R1fb634c050a74c39" /><Relationship Type="http://schemas.openxmlformats.org/officeDocument/2006/relationships/slide" Target="/ppt/slides/slide7.xml" Id="Rb1fc541df033497a" /><Relationship Type="http://schemas.openxmlformats.org/officeDocument/2006/relationships/slide" Target="/ppt/slides/slide8.xml" Id="Rb6e95a81e6124774" /><Relationship Type="http://schemas.openxmlformats.org/officeDocument/2006/relationships/slide" Target="/ppt/slides/slide9.xml" Id="R5687381d94e94f01" /><Relationship Type="http://schemas.openxmlformats.org/officeDocument/2006/relationships/slide" Target="/ppt/slides/slide10.xml" Id="R75e01200afdf4f8f" /><Relationship Type="http://schemas.openxmlformats.org/officeDocument/2006/relationships/slide" Target="/ppt/slides/slide11.xml" Id="R6b157fedeb6049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b3b64a2a294b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84b187f4e54b04" /><Relationship Type="http://schemas.openxmlformats.org/officeDocument/2006/relationships/notesMaster" Target="/ppt/notesMasters/notesMaster1.xml" Id="Rb81684a5497746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8a37b17add410f" /><Relationship Type="http://schemas.openxmlformats.org/officeDocument/2006/relationships/notesMaster" Target="/ppt/notesMasters/notesMaster1.xml" Id="R917b4f777c5845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d1743fbb634641" /><Relationship Type="http://schemas.openxmlformats.org/officeDocument/2006/relationships/notesMaster" Target="/ppt/notesMasters/notesMaster1.xml" Id="R4f8ff698947846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857a14f64a4177" /><Relationship Type="http://schemas.openxmlformats.org/officeDocument/2006/relationships/notesMaster" Target="/ppt/notesMasters/notesMaster1.xml" Id="R19ee1312e2304d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0dab4ee2064f1a" /><Relationship Type="http://schemas.openxmlformats.org/officeDocument/2006/relationships/notesMaster" Target="/ppt/notesMasters/notesMaster1.xml" Id="Rb56efb5cfdf849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1ef6bbe472492f" /><Relationship Type="http://schemas.openxmlformats.org/officeDocument/2006/relationships/notesMaster" Target="/ppt/notesMasters/notesMaster1.xml" Id="R66a99a9952ab4c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17595ded2249c6" /><Relationship Type="http://schemas.openxmlformats.org/officeDocument/2006/relationships/notesMaster" Target="/ppt/notesMasters/notesMaster1.xml" Id="Rd125a787693d43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46685e1f8d4cf7" /><Relationship Type="http://schemas.openxmlformats.org/officeDocument/2006/relationships/notesMaster" Target="/ppt/notesMasters/notesMaster1.xml" Id="R8e09821a26be45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071fe83fdf4963" /><Relationship Type="http://schemas.openxmlformats.org/officeDocument/2006/relationships/notesMaster" Target="/ppt/notesMasters/notesMaster1.xml" Id="Rc90bf6830a8b4c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e70f6abf9742a1" /><Relationship Type="http://schemas.openxmlformats.org/officeDocument/2006/relationships/notesMaster" Target="/ppt/notesMasters/notesMaster1.xml" Id="R1cf7db8721e24e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cd608ca8da4d06" /><Relationship Type="http://schemas.openxmlformats.org/officeDocument/2006/relationships/notesMaster" Target="/ppt/notesMasters/notesMaster1.xml" Id="Rb222f7e4d2be4b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4a0b806d74b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d276477d244702" /><Relationship Type="http://schemas.openxmlformats.org/officeDocument/2006/relationships/slideLayout" Target="/ppt/slideLayouts/slideLayout1.xml" Id="Rb9db76e1f6d447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db76e1f6d447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fe0f7813f492f" /><Relationship Type="http://schemas.openxmlformats.org/officeDocument/2006/relationships/image" Target="/ppt/media/image.png" Id="Rca987fa54bbe47c5" /><Relationship Type="http://schemas.openxmlformats.org/officeDocument/2006/relationships/notesSlide" Target="/ppt/notesSlides/notesSlide1.xml" Id="Re5530729947b4a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65096d6a64164" /><Relationship Type="http://schemas.openxmlformats.org/officeDocument/2006/relationships/image" Target="/ppt/media/image2.png" Id="Rd4c55449abba4ff0" /><Relationship Type="http://schemas.openxmlformats.org/officeDocument/2006/relationships/notesSlide" Target="/ppt/notesSlides/notesSlide2.xml" Id="R997ab872f7924d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a88155a734da7" /><Relationship Type="http://schemas.openxmlformats.org/officeDocument/2006/relationships/image" Target="/ppt/media/image3.png" Id="Rca390d6496e04f19" /><Relationship Type="http://schemas.openxmlformats.org/officeDocument/2006/relationships/notesSlide" Target="/ppt/notesSlides/notesSlide3.xml" Id="R0553a1d287fe4c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2e15008cb4add" /><Relationship Type="http://schemas.openxmlformats.org/officeDocument/2006/relationships/image" Target="/ppt/media/image4.png" Id="Rfa2e3b7eeaa24ccf" /><Relationship Type="http://schemas.openxmlformats.org/officeDocument/2006/relationships/notesSlide" Target="/ppt/notesSlides/notesSlide4.xml" Id="R72a1a606602d4d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f14bea7544b40" /><Relationship Type="http://schemas.openxmlformats.org/officeDocument/2006/relationships/image" Target="/ppt/media/image5.png" Id="R563719f6c15644ca" /><Relationship Type="http://schemas.openxmlformats.org/officeDocument/2006/relationships/notesSlide" Target="/ppt/notesSlides/notesSlide5.xml" Id="R161501b5ceb149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7dd1ee5124660" /><Relationship Type="http://schemas.openxmlformats.org/officeDocument/2006/relationships/image" Target="/ppt/media/image6.png" Id="R0c9364c7452e4077" /><Relationship Type="http://schemas.openxmlformats.org/officeDocument/2006/relationships/notesSlide" Target="/ppt/notesSlides/notesSlide6.xml" Id="R020e871ef09441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c69b506f14cad" /><Relationship Type="http://schemas.openxmlformats.org/officeDocument/2006/relationships/image" Target="/ppt/media/image7.png" Id="R33f7476a9e7a490a" /><Relationship Type="http://schemas.openxmlformats.org/officeDocument/2006/relationships/notesSlide" Target="/ppt/notesSlides/notesSlide7.xml" Id="R74f2bac9c57942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af97ee6664a5f" /><Relationship Type="http://schemas.openxmlformats.org/officeDocument/2006/relationships/image" Target="/ppt/media/image8.png" Id="R4b0f3ba248904651" /><Relationship Type="http://schemas.openxmlformats.org/officeDocument/2006/relationships/notesSlide" Target="/ppt/notesSlides/notesSlide8.xml" Id="Rfc64440f072d4d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bfdc186de4147" /><Relationship Type="http://schemas.openxmlformats.org/officeDocument/2006/relationships/image" Target="/ppt/media/image9.png" Id="Rf8b7144a4c974551" /><Relationship Type="http://schemas.openxmlformats.org/officeDocument/2006/relationships/notesSlide" Target="/ppt/notesSlides/notesSlide9.xml" Id="R9ffb15f3becd4c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441b5b931462e" /><Relationship Type="http://schemas.openxmlformats.org/officeDocument/2006/relationships/image" Target="/ppt/media/image10.png" Id="R29312f4021bc4e2e" /><Relationship Type="http://schemas.openxmlformats.org/officeDocument/2006/relationships/notesSlide" Target="/ppt/notesSlides/notesSlide10.xml" Id="R98094671e60945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df243c48b4f6a" /><Relationship Type="http://schemas.openxmlformats.org/officeDocument/2006/relationships/notesSlide" Target="/ppt/notesSlides/notesSlide11.xml" Id="Ra97586092a1543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963B155-691E-4589-B39D-F65507C8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77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A8"/>
                </a:solidFill>
                <a:latin typeface="Arial"/>
                <a:ea typeface="Arial"/>
                <a:cs typeface="Arial"/>
              </a:rPr>
              <a:t>NEPAL MARKET-MONTH CONSTRUCT VALIDATION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5EB561F-53C9-4371-9733-00911288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33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Only one in nine corrected rice-price spikes followed locally dry rainfall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1A50A3C-C242-4DC6-8217-F727E610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5219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annual DMC qualifier is retired. The remaining result is a coincidence screen—not climate attribution.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87fa54bbe47c5"/>
          <a:stretch xmlns:a="http://schemas.openxmlformats.org/drawingml/2006/main"/>
        </p:blipFill>
        <p:spPr>
          <a:xfrm xmlns:a="http://schemas.openxmlformats.org/drawingml/2006/main">
            <a:off x="6267450" y="1618286"/>
            <a:ext cx="5524500" cy="3164227"/>
          </a:xfrm>
          <a:prstGeom xmlns:a="http://schemas.openxmlformats.org/drawingml/2006/main" prst="rect">
            <a:avLst/>
          </a:prstGeom>
        </p:spPr>
      </p:pic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5982C241-8608-4A0A-AB20-09A7B45B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06D"/>
                </a:solidFill>
                <a:latin typeface="Arial"/>
                <a:ea typeface="Arial"/>
                <a:cs typeface="Arial"/>
              </a:rPr>
              <a:t>Raymond Adofina · Asian Development Bank</a:t>
            </a:r>
          </a:p>
          <a:p xmlns:a="http://schemas.openxmlformats.org/drawingml/2006/main">
            <a:pPr>
              <a:defRPr sz="11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06D"/>
                </a:solidFill>
                <a:latin typeface="Arial"/>
                <a:ea typeface="Arial"/>
                <a:cs typeface="Arial"/>
              </a:rPr>
              <a:t>AI-first §18 · PP · 19 July 2026</a:t>
            </a:r>
          </a:p>
        </p:txBody>
      </p:sp>
      <p:sp>
        <p:nvSpPr>
          <p:cNvPr id="6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14D1A88E-9D67-4DD4-99E8-BF7C12BB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72BDF8FE-977B-445C-BE73-0F87EF18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WFP Nepal market prices · NASA POWER monthly rainfall · World Bank CPI context</a:t>
            </a:r>
          </a:p>
        </p:txBody>
      </p:sp>
      <p:sp>
        <p:nvSpPr>
          <p:cNvPr id="8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9BD5556F-1C4A-4FA4-86D8-CC60A77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0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1044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2">
            <a:extLst xmlns:a="http://schemas.openxmlformats.org/drawingml/2006/main">
              <a:ext uri="{FF2B5EF4-FFF2-40B4-BE49-F238E27FC236}">
                <a16:creationId xmlns:a16="http://schemas.microsoft.com/office/drawing/2014/main" id="{6B4B519C-30C4-49E2-B7C4-46FF6A35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Most rice-price spikes do not follow local dryness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55449abba4ff0"/>
          <a:stretch xmlns:a="http://schemas.openxmlformats.org/drawingml/2006/main"/>
        </p:blipFill>
        <p:spPr>
          <a:xfrm xmlns:a="http://schemas.openxmlformats.org/drawingml/2006/main">
            <a:off x="697633" y="1066800"/>
            <a:ext cx="7805883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rail-rule-2">
            <a:extLst xmlns:a="http://schemas.openxmlformats.org/drawingml/2006/main">
              <a:ext uri="{FF2B5EF4-FFF2-40B4-BE49-F238E27FC236}">
                <a16:creationId xmlns:a16="http://schemas.microsoft.com/office/drawing/2014/main" id="{FA05AB9C-DC87-42B7-861E-1E2465C3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0" cy="451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46A4C"/>
            </a:solidFill>
            <a:prstDash val="solid"/>
          </a:ln>
        </p:spPr>
      </p:sp>
      <p:sp>
        <p:nvSpPr>
          <p:cNvPr id="4" name="rail-stat-2">
            <a:extLst xmlns:a="http://schemas.openxmlformats.org/drawingml/2006/main">
              <a:ext uri="{FF2B5EF4-FFF2-40B4-BE49-F238E27FC236}">
                <a16:creationId xmlns:a16="http://schemas.microsoft.com/office/drawing/2014/main" id="{E4B8DB23-B49A-4641-8009-B4972823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3525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46A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46A4C"/>
                </a:solidFill>
                <a:latin typeface="Arial"/>
                <a:ea typeface="Arial"/>
                <a:cs typeface="Arial"/>
              </a:rPr>
              <a:t>17 / 152</a:t>
            </a:r>
          </a:p>
        </p:txBody>
      </p:sp>
      <p:sp>
        <p:nvSpPr>
          <p:cNvPr id="5" name="rail-label-2">
            <a:extLst xmlns:a="http://schemas.openxmlformats.org/drawingml/2006/main">
              <a:ext uri="{FF2B5EF4-FFF2-40B4-BE49-F238E27FC236}">
                <a16:creationId xmlns:a16="http://schemas.microsoft.com/office/drawing/2014/main" id="{E2D83322-992B-481B-88D0-8E05433F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spike cells are dry-aligned at one month</a:t>
            </a:r>
          </a:p>
        </p:txBody>
      </p:sp>
      <p:sp>
        <p:nvSpPr>
          <p:cNvPr id="6" name="rail-meaning-2">
            <a:extLst xmlns:a="http://schemas.openxmlformats.org/drawingml/2006/main">
              <a:ext uri="{FF2B5EF4-FFF2-40B4-BE49-F238E27FC236}">
                <a16:creationId xmlns:a16="http://schemas.microsoft.com/office/drawing/2014/main" id="{B32E3541-2A7E-4119-A40E-D13BFDF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22479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other 135 corrected spike cells are not. This is a threshold coincidence share, not a causal contribution.</a:t>
            </a:r>
          </a:p>
        </p:txBody>
      </p:sp>
      <p:sp>
        <p:nvSpPr>
          <p:cNvPr id="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311C4B7-1516-47F6-A728-2BDCB915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247DF57C-8546-4E01-8C07-A8E79B34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WFP coarse-rice retail prices · NASA POWER point rainfall · 12 Nepal markets</a:t>
            </a:r>
          </a:p>
        </p:txBody>
      </p:sp>
      <p:sp>
        <p:nvSpPr>
          <p:cNvPr id="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DCAA1C4D-AE9D-4BC4-A2AE-AEB6A1AB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5537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3">
            <a:extLst xmlns:a="http://schemas.openxmlformats.org/drawingml/2006/main">
              <a:ext uri="{FF2B5EF4-FFF2-40B4-BE49-F238E27FC236}">
                <a16:creationId xmlns:a16="http://schemas.microsoft.com/office/drawing/2014/main" id="{7493C7EC-905C-422C-A2B2-17F57558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old outcome inflated the apparent wave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90d6496e04f19"/>
          <a:stretch xmlns:a="http://schemas.openxmlformats.org/drawingml/2006/main"/>
        </p:blipFill>
        <p:spPr>
          <a:xfrm xmlns:a="http://schemas.openxmlformats.org/drawingml/2006/main">
            <a:off x="653592" y="1066800"/>
            <a:ext cx="7893965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rail-rule-3">
            <a:extLst xmlns:a="http://schemas.openxmlformats.org/drawingml/2006/main">
              <a:ext uri="{FF2B5EF4-FFF2-40B4-BE49-F238E27FC236}">
                <a16:creationId xmlns:a16="http://schemas.microsoft.com/office/drawing/2014/main" id="{7A0E4E8B-7143-4B53-8ED9-393B832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0" cy="451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A8"/>
            </a:solidFill>
            <a:prstDash val="solid"/>
          </a:ln>
        </p:spPr>
      </p:sp>
      <p:sp>
        <p:nvSpPr>
          <p:cNvPr id="4" name="rail-stat-3">
            <a:extLst xmlns:a="http://schemas.openxmlformats.org/drawingml/2006/main">
              <a:ext uri="{FF2B5EF4-FFF2-40B4-BE49-F238E27FC236}">
                <a16:creationId xmlns:a16="http://schemas.microsoft.com/office/drawing/2014/main" id="{7350AA33-6A3C-4CEA-922E-3CF346AD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3525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77A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7A8"/>
                </a:solidFill>
                <a:latin typeface="Arial"/>
                <a:ea typeface="Arial"/>
                <a:cs typeface="Arial"/>
              </a:rPr>
              <a:t>259 → 152</a:t>
            </a:r>
          </a:p>
        </p:txBody>
      </p:sp>
      <p:sp>
        <p:nvSpPr>
          <p:cNvPr id="5" name="rail-label-3">
            <a:extLst xmlns:a="http://schemas.openxmlformats.org/drawingml/2006/main">
              <a:ext uri="{FF2B5EF4-FFF2-40B4-BE49-F238E27FC236}">
                <a16:creationId xmlns:a16="http://schemas.microsoft.com/office/drawing/2014/main" id="{E50593B9-DCED-41E9-AD48-CF67E07C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spike cells after correcting the price outcome</a:t>
            </a:r>
          </a:p>
        </p:txBody>
      </p:sp>
      <p:sp>
        <p:nvSpPr>
          <p:cNvPr id="6" name="rail-meaning-3">
            <a:extLst xmlns:a="http://schemas.openxmlformats.org/drawingml/2006/main">
              <a:ext uri="{FF2B5EF4-FFF2-40B4-BE49-F238E27FC236}">
                <a16:creationId xmlns:a16="http://schemas.microsoft.com/office/drawing/2014/main" id="{112C7E76-A83C-4393-80F6-9F7DA327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22479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Year-on-year change replaces distance to the full-sample calendar-month median, which mechanically flagged later high price levels.</a:t>
            </a:r>
          </a:p>
        </p:txBody>
      </p:sp>
      <p:sp>
        <p:nvSpPr>
          <p:cNvPr id="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EC8075E2-E32B-476E-8BDC-47CBC62D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04787B0B-989C-48B6-BC64-1664C4C6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Committed construct-validation pipeline · 2019–2025 WFP price panel</a:t>
            </a:r>
          </a:p>
        </p:txBody>
      </p:sp>
      <p:sp>
        <p:nvSpPr>
          <p:cNvPr id="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6A7BD068-890F-4262-8080-46D089E1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4508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4">
            <a:extLst xmlns:a="http://schemas.openxmlformats.org/drawingml/2006/main">
              <a:ext uri="{FF2B5EF4-FFF2-40B4-BE49-F238E27FC236}">
                <a16:creationId xmlns:a16="http://schemas.microsoft.com/office/drawing/2014/main" id="{182B45AA-7F84-4ADD-885C-42321FA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broad 2023–2024 wave remains—but rarely looks locally dry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e3b7eeaa24ccf"/>
          <a:stretch xmlns:a="http://schemas.openxmlformats.org/drawingml/2006/main"/>
        </p:blipFill>
        <p:spPr>
          <a:xfrm xmlns:a="http://schemas.openxmlformats.org/drawingml/2006/main">
            <a:off x="494134" y="1066800"/>
            <a:ext cx="8212883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rail-rule-4">
            <a:extLst xmlns:a="http://schemas.openxmlformats.org/drawingml/2006/main">
              <a:ext uri="{FF2B5EF4-FFF2-40B4-BE49-F238E27FC236}">
                <a16:creationId xmlns:a16="http://schemas.microsoft.com/office/drawing/2014/main" id="{B9715A82-7672-4D38-8B6D-C1FFE6C0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0" cy="451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A8"/>
            </a:solidFill>
            <a:prstDash val="solid"/>
          </a:ln>
        </p:spPr>
      </p:sp>
      <p:sp>
        <p:nvSpPr>
          <p:cNvPr id="4" name="rail-stat-4">
            <a:extLst xmlns:a="http://schemas.openxmlformats.org/drawingml/2006/main">
              <a:ext uri="{FF2B5EF4-FFF2-40B4-BE49-F238E27FC236}">
                <a16:creationId xmlns:a16="http://schemas.microsoft.com/office/drawing/2014/main" id="{A7BA5946-12D8-4587-A847-6920BB5A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3525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77A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7A8"/>
                </a:solidFill>
                <a:latin typeface="Arial"/>
                <a:ea typeface="Arial"/>
                <a:cs typeface="Arial"/>
              </a:rPr>
              <a:t>10 months</a:t>
            </a:r>
          </a:p>
        </p:txBody>
      </p:sp>
      <p:sp>
        <p:nvSpPr>
          <p:cNvPr id="5" name="rail-label-4">
            <a:extLst xmlns:a="http://schemas.openxmlformats.org/drawingml/2006/main">
              <a:ext uri="{FF2B5EF4-FFF2-40B4-BE49-F238E27FC236}">
                <a16:creationId xmlns:a16="http://schemas.microsoft.com/office/drawing/2014/main" id="{19DB2A81-EF7E-4B36-9D22-435E4DA0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meet the main broad non-dry wave definition</a:t>
            </a:r>
          </a:p>
        </p:txBody>
      </p:sp>
      <p:sp>
        <p:nvSpPr>
          <p:cNvPr id="6" name="rail-meaning-4">
            <a:extLst xmlns:a="http://schemas.openxmlformats.org/drawingml/2006/main">
              <a:ext uri="{FF2B5EF4-FFF2-40B4-BE49-F238E27FC236}">
                <a16:creationId xmlns:a16="http://schemas.microsoft.com/office/drawing/2014/main" id="{CDA83C6D-0281-4C16-88FC-E3A2524B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22479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count is descriptive and threshold-sensitive. The pattern motivates investigation of common or connected price drivers.</a:t>
            </a:r>
          </a:p>
        </p:txBody>
      </p:sp>
      <p:sp>
        <p:nvSpPr>
          <p:cNvPr id="7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551E54D1-3C44-4616-99E5-657B43D1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88CEB73A-A829-42BE-B7FE-61855EA3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Main thresholds: ≥20% YoY · ≥50% of observed markets · dry share ≤34%</a:t>
            </a:r>
          </a:p>
        </p:txBody>
      </p:sp>
      <p:sp>
        <p:nvSpPr>
          <p:cNvPr id="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5F2A599-2011-4BEE-853F-98D51E0B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4122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5">
            <a:extLst xmlns:a="http://schemas.openxmlformats.org/drawingml/2006/main">
              <a:ext uri="{FF2B5EF4-FFF2-40B4-BE49-F238E27FC236}">
                <a16:creationId xmlns:a16="http://schemas.microsoft.com/office/drawing/2014/main" id="{4AD152A5-81A7-4888-B657-D3038141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tested rainfall lag makes dryness the dominant pattern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719f6c15644ca"/>
          <a:stretch xmlns:a="http://schemas.openxmlformats.org/drawingml/2006/main"/>
        </p:blipFill>
        <p:spPr>
          <a:xfrm xmlns:a="http://schemas.openxmlformats.org/drawingml/2006/main">
            <a:off x="608033" y="1066800"/>
            <a:ext cx="7985085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rail-rule-5">
            <a:extLst xmlns:a="http://schemas.openxmlformats.org/drawingml/2006/main">
              <a:ext uri="{FF2B5EF4-FFF2-40B4-BE49-F238E27FC236}">
                <a16:creationId xmlns:a16="http://schemas.microsoft.com/office/drawing/2014/main" id="{78C604B1-6FF9-460E-851C-AF989173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0" cy="451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A8"/>
            </a:solidFill>
            <a:prstDash val="solid"/>
          </a:ln>
        </p:spPr>
      </p:sp>
      <p:sp>
        <p:nvSpPr>
          <p:cNvPr id="4" name="rail-stat-5">
            <a:extLst xmlns:a="http://schemas.openxmlformats.org/drawingml/2006/main">
              <a:ext uri="{FF2B5EF4-FFF2-40B4-BE49-F238E27FC236}">
                <a16:creationId xmlns:a16="http://schemas.microsoft.com/office/drawing/2014/main" id="{2CF0797D-5BF7-41C2-8D71-38DF3ECC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3525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77A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7A8"/>
                </a:solidFill>
                <a:latin typeface="Arial"/>
                <a:ea typeface="Arial"/>
                <a:cs typeface="Arial"/>
              </a:rPr>
              <a:t>5.9–11.8%</a:t>
            </a:r>
          </a:p>
        </p:txBody>
      </p:sp>
      <p:sp>
        <p:nvSpPr>
          <p:cNvPr id="5" name="rail-label-5">
            <a:extLst xmlns:a="http://schemas.openxmlformats.org/drawingml/2006/main">
              <a:ext uri="{FF2B5EF4-FFF2-40B4-BE49-F238E27FC236}">
                <a16:creationId xmlns:a16="http://schemas.microsoft.com/office/drawing/2014/main" id="{71D6B8C8-FD39-4D58-AB17-D1DB8FAE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dry-aligned share across 0-, 1-, 3-, and 6-month lags</a:t>
            </a:r>
          </a:p>
        </p:txBody>
      </p:sp>
      <p:sp>
        <p:nvSpPr>
          <p:cNvPr id="6" name="rail-meaning-5">
            <a:extLst xmlns:a="http://schemas.openxmlformats.org/drawingml/2006/main">
              <a:ext uri="{FF2B5EF4-FFF2-40B4-BE49-F238E27FC236}">
                <a16:creationId xmlns:a16="http://schemas.microsoft.com/office/drawing/2014/main" id="{D5093404-23A8-45BB-9E3C-99F38EE4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22479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Timing choices change the share modestly, but none turns local dryness into the common near-term signature.</a:t>
            </a:r>
          </a:p>
        </p:txBody>
      </p:sp>
      <p:sp>
        <p:nvSpPr>
          <p:cNvPr id="7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F28C731-565F-4F5C-91E5-60D3D617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530F37B7-B144-4B04-A946-7C32CAC1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Same 152 corrected price-spike cells · NASA POWER monthly point rainfall</a:t>
            </a:r>
          </a:p>
        </p:txBody>
      </p:sp>
      <p:sp>
        <p:nvSpPr>
          <p:cNvPr id="9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6DB40BCF-A0B1-42B3-AB72-6010A12A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33591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6">
            <a:extLst xmlns:a="http://schemas.openxmlformats.org/drawingml/2006/main">
              <a:ext uri="{FF2B5EF4-FFF2-40B4-BE49-F238E27FC236}">
                <a16:creationId xmlns:a16="http://schemas.microsoft.com/office/drawing/2014/main" id="{80C9D8A1-E562-4016-BE9B-C31A66D3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minority direction survives all 81 threshold runs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364c7452e4077"/>
          <a:stretch xmlns:a="http://schemas.openxmlformats.org/drawingml/2006/main"/>
        </p:blipFill>
        <p:spPr>
          <a:xfrm xmlns:a="http://schemas.openxmlformats.org/drawingml/2006/main">
            <a:off x="670298" y="1066800"/>
            <a:ext cx="7860555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rail-rule-6">
            <a:extLst xmlns:a="http://schemas.openxmlformats.org/drawingml/2006/main">
              <a:ext uri="{FF2B5EF4-FFF2-40B4-BE49-F238E27FC236}">
                <a16:creationId xmlns:a16="http://schemas.microsoft.com/office/drawing/2014/main" id="{DB99AA8B-FE8A-4E86-A8C9-AA2940C9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0" cy="451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A8"/>
            </a:solidFill>
            <a:prstDash val="solid"/>
          </a:ln>
        </p:spPr>
      </p:sp>
      <p:sp>
        <p:nvSpPr>
          <p:cNvPr id="4" name="rail-stat-6">
            <a:extLst xmlns:a="http://schemas.openxmlformats.org/drawingml/2006/main">
              <a:ext uri="{FF2B5EF4-FFF2-40B4-BE49-F238E27FC236}">
                <a16:creationId xmlns:a16="http://schemas.microsoft.com/office/drawing/2014/main" id="{D1819D19-4513-4EF6-81D7-2505BEE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3525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77A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7A8"/>
                </a:solidFill>
                <a:latin typeface="Arial"/>
                <a:ea typeface="Arial"/>
                <a:cs typeface="Arial"/>
              </a:rPr>
              <a:t>0–48.8%</a:t>
            </a:r>
          </a:p>
        </p:txBody>
      </p:sp>
      <p:sp>
        <p:nvSpPr>
          <p:cNvPr id="5" name="rail-label-6">
            <a:extLst xmlns:a="http://schemas.openxmlformats.org/drawingml/2006/main">
              <a:ext uri="{FF2B5EF4-FFF2-40B4-BE49-F238E27FC236}">
                <a16:creationId xmlns:a16="http://schemas.microsoft.com/office/drawing/2014/main" id="{7A2722F8-61C5-491F-B60D-CC3C4911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dry share across the full ±50% factorial</a:t>
            </a:r>
          </a:p>
        </p:txBody>
      </p:sp>
      <p:sp>
        <p:nvSpPr>
          <p:cNvPr id="6" name="rail-meaning-6">
            <a:extLst xmlns:a="http://schemas.openxmlformats.org/drawingml/2006/main">
              <a:ext uri="{FF2B5EF4-FFF2-40B4-BE49-F238E27FC236}">
                <a16:creationId xmlns:a16="http://schemas.microsoft.com/office/drawing/2014/main" id="{1ED9E5DC-CB8C-45BB-B38A-9AC5A3A3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22479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Direction survives. Counts do not: broad-wave months range 0–44 and dry clusters 0–27, so neither count earns the headline.</a:t>
            </a:r>
          </a:p>
        </p:txBody>
      </p:sp>
      <p:sp>
        <p:nvSpPr>
          <p:cNvPr id="7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6E71CF2F-583E-4E86-831C-647B0D71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6FA0D83E-12B8-42C3-96B7-1E93D6BE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3×3×3×3 sensitivity: price, dryness, breadth, and dry-share thresholds</a:t>
            </a:r>
          </a:p>
        </p:txBody>
      </p:sp>
      <p:sp>
        <p:nvSpPr>
          <p:cNvPr id="9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4233123-C337-498A-B49E-7DB25CC0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2293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7">
            <a:extLst xmlns:a="http://schemas.openxmlformats.org/drawingml/2006/main">
              <a:ext uri="{FF2B5EF4-FFF2-40B4-BE49-F238E27FC236}">
                <a16:creationId xmlns:a16="http://schemas.microsoft.com/office/drawing/2014/main" id="{C3DA2579-06FA-4A90-8F60-5B000E35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Five annual observations cannot validate the market result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7476a9e7a490a"/>
          <a:stretch xmlns:a="http://schemas.openxmlformats.org/drawingml/2006/main"/>
        </p:blipFill>
        <p:spPr>
          <a:xfrm xmlns:a="http://schemas.openxmlformats.org/drawingml/2006/main">
            <a:off x="427313" y="1066800"/>
            <a:ext cx="8346524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rail-rule-7">
            <a:extLst xmlns:a="http://schemas.openxmlformats.org/drawingml/2006/main">
              <a:ext uri="{FF2B5EF4-FFF2-40B4-BE49-F238E27FC236}">
                <a16:creationId xmlns:a16="http://schemas.microsoft.com/office/drawing/2014/main" id="{9CDD93C8-BFBA-4990-ACFE-D2648DB3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0" cy="451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A8"/>
            </a:solidFill>
            <a:prstDash val="solid"/>
          </a:ln>
        </p:spPr>
      </p:sp>
      <p:sp>
        <p:nvSpPr>
          <p:cNvPr id="4" name="rail-stat-7">
            <a:extLst xmlns:a="http://schemas.openxmlformats.org/drawingml/2006/main">
              <a:ext uri="{FF2B5EF4-FFF2-40B4-BE49-F238E27FC236}">
                <a16:creationId xmlns:a16="http://schemas.microsoft.com/office/drawing/2014/main" id="{BF98AFAE-72E9-462B-8A96-BF314DA5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3525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77A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7A8"/>
                </a:solidFill>
                <a:latin typeface="Arial"/>
                <a:ea typeface="Arial"/>
                <a:cs typeface="Arial"/>
              </a:rPr>
              <a:t>ρ = +0.21</a:t>
            </a:r>
          </a:p>
        </p:txBody>
      </p:sp>
      <p:sp>
        <p:nvSpPr>
          <p:cNvPr id="5" name="rail-label-7">
            <a:extLst xmlns:a="http://schemas.openxmlformats.org/drawingml/2006/main">
              <a:ext uri="{FF2B5EF4-FFF2-40B4-BE49-F238E27FC236}">
                <a16:creationId xmlns:a16="http://schemas.microsoft.com/office/drawing/2014/main" id="{01D2DFBE-338A-4B19-B0C4-493F3C03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headline CPI vs median market rice-price change</a:t>
            </a:r>
          </a:p>
        </p:txBody>
      </p:sp>
      <p:sp>
        <p:nvSpPr>
          <p:cNvPr id="6" name="rail-meaning-7">
            <a:extLst xmlns:a="http://schemas.openxmlformats.org/drawingml/2006/main">
              <a:ext uri="{FF2B5EF4-FFF2-40B4-BE49-F238E27FC236}">
                <a16:creationId xmlns:a16="http://schemas.microsoft.com/office/drawing/2014/main" id="{B9060E82-F8A3-4589-A50D-F40FE4D2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22479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Exact permutation p=0.73. More importantly, national CPI and selected market coarse-rice prices are different baskets and units.</a:t>
            </a:r>
          </a:p>
        </p:txBody>
      </p:sp>
      <p:sp>
        <p:nvSpPr>
          <p:cNvPr id="7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02C47E97-C802-4BE6-A855-6DF6F640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D90DF1B2-9946-42C4-B78F-76719F87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World Bank WDI headline CPI · WFP market rice prices · 2020–2024</a:t>
            </a:r>
          </a:p>
        </p:txBody>
      </p:sp>
      <p:sp>
        <p:nvSpPr>
          <p:cNvPr id="9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5FC044ED-A7E1-4E5A-97BF-355B8C35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3861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8">
            <a:extLst xmlns:a="http://schemas.openxmlformats.org/drawingml/2006/main">
              <a:ext uri="{FF2B5EF4-FFF2-40B4-BE49-F238E27FC236}">
                <a16:creationId xmlns:a16="http://schemas.microsoft.com/office/drawing/2014/main" id="{3D74F886-CA74-4ED1-8E26-F09209B4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inherited annual screen would not even select Nepal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f3ba248904651"/>
          <a:stretch xmlns:a="http://schemas.openxmlformats.org/drawingml/2006/main"/>
        </p:blipFill>
        <p:spPr>
          <a:xfrm xmlns:a="http://schemas.openxmlformats.org/drawingml/2006/main">
            <a:off x="368085" y="1066800"/>
            <a:ext cx="8464979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rail-rule-8">
            <a:extLst xmlns:a="http://schemas.openxmlformats.org/drawingml/2006/main">
              <a:ext uri="{FF2B5EF4-FFF2-40B4-BE49-F238E27FC236}">
                <a16:creationId xmlns:a16="http://schemas.microsoft.com/office/drawing/2014/main" id="{5E7C27A1-64DB-4612-8B0B-BC678737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0" cy="451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A8"/>
            </a:solidFill>
            <a:prstDash val="solid"/>
          </a:ln>
        </p:spPr>
      </p:sp>
      <p:sp>
        <p:nvSpPr>
          <p:cNvPr id="4" name="rail-stat-8">
            <a:extLst xmlns:a="http://schemas.openxmlformats.org/drawingml/2006/main">
              <a:ext uri="{FF2B5EF4-FFF2-40B4-BE49-F238E27FC236}">
                <a16:creationId xmlns:a16="http://schemas.microsoft.com/office/drawing/2014/main" id="{1BF5D7AB-E88F-46E0-A0F6-D254A699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3525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77A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7A8"/>
                </a:solidFill>
                <a:latin typeface="Arial"/>
                <a:ea typeface="Arial"/>
                <a:cs typeface="Arial"/>
              </a:rPr>
              <a:t>#12 / #22</a:t>
            </a:r>
          </a:p>
        </p:txBody>
      </p:sp>
      <p:sp>
        <p:nvSpPr>
          <p:cNvPr id="5" name="rail-label-8">
            <a:extLst xmlns:a="http://schemas.openxmlformats.org/drawingml/2006/main">
              <a:ext uri="{FF2B5EF4-FFF2-40B4-BE49-F238E27FC236}">
                <a16:creationId xmlns:a16="http://schemas.microsoft.com/office/drawing/2014/main" id="{2F53F87C-1FA2-4FC1-8C0C-5BDBDEEE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Nepal CPI and raw-ag import ranks</a:t>
            </a:r>
          </a:p>
        </p:txBody>
      </p:sp>
      <p:sp>
        <p:nvSpPr>
          <p:cNvPr id="6" name="rail-meaning-8">
            <a:extLst xmlns:a="http://schemas.openxmlformats.org/drawingml/2006/main">
              <a:ext uri="{FF2B5EF4-FFF2-40B4-BE49-F238E27FC236}">
                <a16:creationId xmlns:a16="http://schemas.microsoft.com/office/drawing/2014/main" id="{45FBE031-CDCD-4B2E-90A7-CB3627B1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22479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annual intersection ranks macro indicators, not commodity-market mechanisms. Its stable LAO–PAK set is retired as the program finding.</a:t>
            </a:r>
          </a:p>
        </p:txBody>
      </p:sp>
      <p:sp>
        <p:nvSpPr>
          <p:cNvPr id="7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8DA693C7-FE2B-49BF-BE2E-EDC25126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ooter-source-8">
            <a:extLst xmlns:a="http://schemas.openxmlformats.org/drawingml/2006/main">
              <a:ext uri="{FF2B5EF4-FFF2-40B4-BE49-F238E27FC236}">
                <a16:creationId xmlns:a16="http://schemas.microsoft.com/office/drawing/2014/main" id="{58E31E28-1408-4A01-99D0-115318F2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World Bank WDI latest headline CPI and agricultural raw-material import share</a:t>
            </a:r>
          </a:p>
        </p:txBody>
      </p:sp>
      <p:sp>
        <p:nvSpPr>
          <p:cNvPr id="9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05508682-367F-4165-AA70-9653E199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85334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9">
            <a:extLst xmlns:a="http://schemas.openxmlformats.org/drawingml/2006/main">
              <a:ext uri="{FF2B5EF4-FFF2-40B4-BE49-F238E27FC236}">
                <a16:creationId xmlns:a16="http://schemas.microsoft.com/office/drawing/2014/main" id="{28FA3542-7455-41DA-91BC-A42FEFFD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usable evidence narrows to 760 aligned market-month cells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7144a4c974551"/>
          <a:stretch xmlns:a="http://schemas.openxmlformats.org/drawingml/2006/main"/>
        </p:blipFill>
        <p:spPr>
          <a:xfrm xmlns:a="http://schemas.openxmlformats.org/drawingml/2006/main">
            <a:off x="653592" y="1066800"/>
            <a:ext cx="7893965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rail-rule-9">
            <a:extLst xmlns:a="http://schemas.openxmlformats.org/drawingml/2006/main">
              <a:ext uri="{FF2B5EF4-FFF2-40B4-BE49-F238E27FC236}">
                <a16:creationId xmlns:a16="http://schemas.microsoft.com/office/drawing/2014/main" id="{293B0185-213B-46DE-AB8A-BCB2652C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0" cy="451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77A8"/>
            </a:solidFill>
            <a:prstDash val="solid"/>
          </a:ln>
        </p:spPr>
      </p:sp>
      <p:sp>
        <p:nvSpPr>
          <p:cNvPr id="4" name="rail-stat-9">
            <a:extLst xmlns:a="http://schemas.openxmlformats.org/drawingml/2006/main">
              <a:ext uri="{FF2B5EF4-FFF2-40B4-BE49-F238E27FC236}">
                <a16:creationId xmlns:a16="http://schemas.microsoft.com/office/drawing/2014/main" id="{2E8EF7D5-773D-45F3-AB83-325837C8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3525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77A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77A8"/>
                </a:solidFill>
                <a:latin typeface="Arial"/>
                <a:ea typeface="Arial"/>
                <a:cs typeface="Arial"/>
              </a:rPr>
              <a:t>760</a:t>
            </a:r>
          </a:p>
        </p:txBody>
      </p:sp>
      <p:sp>
        <p:nvSpPr>
          <p:cNvPr id="5" name="rail-label-9">
            <a:extLst xmlns:a="http://schemas.openxmlformats.org/drawingml/2006/main">
              <a:ext uri="{FF2B5EF4-FFF2-40B4-BE49-F238E27FC236}">
                <a16:creationId xmlns:a16="http://schemas.microsoft.com/office/drawing/2014/main" id="{E21D27D0-C3B2-4B3B-B259-FD7F184B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cells with year-on-year price and main-lag rainfall</a:t>
            </a:r>
          </a:p>
        </p:txBody>
      </p:sp>
      <p:sp>
        <p:nvSpPr>
          <p:cNvPr id="6" name="rail-meaning-9">
            <a:extLst xmlns:a="http://schemas.openxmlformats.org/drawingml/2006/main">
              <a:ext uri="{FF2B5EF4-FFF2-40B4-BE49-F238E27FC236}">
                <a16:creationId xmlns:a16="http://schemas.microsoft.com/office/drawing/2014/main" id="{588C822C-92CD-496B-A16E-4863EB4C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22479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object is complete enough for a descriptive alignment test, but covers only coarse rice in 12 selected Nepal markets.</a:t>
            </a:r>
          </a:p>
        </p:txBody>
      </p:sp>
      <p:sp>
        <p:nvSpPr>
          <p:cNvPr id="7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FC6982A9-41A8-447B-A963-82D815F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ooter-source-9">
            <a:extLst xmlns:a="http://schemas.openxmlformats.org/drawingml/2006/main">
              <a:ext uri="{FF2B5EF4-FFF2-40B4-BE49-F238E27FC236}">
                <a16:creationId xmlns:a16="http://schemas.microsoft.com/office/drawing/2014/main" id="{77C19647-434F-441A-9743-21BC6600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WFP Nepal price and market resources · NASA POWER monthly point API</a:t>
            </a:r>
          </a:p>
        </p:txBody>
      </p:sp>
      <p:sp>
        <p:nvSpPr>
          <p:cNvPr id="9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8249832B-D137-4342-834B-E382AD54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0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3843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0">
            <a:extLst xmlns:a="http://schemas.openxmlformats.org/drawingml/2006/main">
              <a:ext uri="{FF2B5EF4-FFF2-40B4-BE49-F238E27FC236}">
                <a16:creationId xmlns:a16="http://schemas.microsoft.com/office/drawing/2014/main" id="{3A3DD193-039A-4551-9D60-3E8D4C73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Alignment gates pass; attribution gates remain closed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12f4021bc4e2e"/>
          <a:stretch xmlns:a="http://schemas.openxmlformats.org/drawingml/2006/main"/>
        </p:blipFill>
        <p:spPr>
          <a:xfrm xmlns:a="http://schemas.openxmlformats.org/drawingml/2006/main">
            <a:off x="697633" y="1066800"/>
            <a:ext cx="7805883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rail-rule-10">
            <a:extLst xmlns:a="http://schemas.openxmlformats.org/drawingml/2006/main">
              <a:ext uri="{FF2B5EF4-FFF2-40B4-BE49-F238E27FC236}">
                <a16:creationId xmlns:a16="http://schemas.microsoft.com/office/drawing/2014/main" id="{09CDB9A6-E6CC-4F86-A857-EDBA2716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19200"/>
            <a:ext cx="0" cy="451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46A4C"/>
            </a:solidFill>
            <a:prstDash val="solid"/>
          </a:ln>
        </p:spPr>
      </p:sp>
      <p:sp>
        <p:nvSpPr>
          <p:cNvPr id="4" name="rail-stat-10">
            <a:extLst xmlns:a="http://schemas.openxmlformats.org/drawingml/2006/main">
              <a:ext uri="{FF2B5EF4-FFF2-40B4-BE49-F238E27FC236}">
                <a16:creationId xmlns:a16="http://schemas.microsoft.com/office/drawing/2014/main" id="{D8106736-53C1-4D18-867A-9E5D3AB4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352550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46A4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46A4C"/>
                </a:solidFill>
                <a:latin typeface="Arial"/>
                <a:ea typeface="Arial"/>
                <a:cs typeface="Arial"/>
              </a:rPr>
              <a:t>4 gaps</a:t>
            </a:r>
          </a:p>
        </p:txBody>
      </p:sp>
      <p:sp>
        <p:nvSpPr>
          <p:cNvPr id="5" name="rail-label-10">
            <a:extLst xmlns:a="http://schemas.openxmlformats.org/drawingml/2006/main">
              <a:ext uri="{FF2B5EF4-FFF2-40B4-BE49-F238E27FC236}">
                <a16:creationId xmlns:a16="http://schemas.microsoft.com/office/drawing/2014/main" id="{497D11F6-CC6A-480E-B3B4-3FF66F2C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2247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block a climate-to-price effect claim</a:t>
            </a:r>
          </a:p>
        </p:txBody>
      </p:sp>
      <p:sp>
        <p:nvSpPr>
          <p:cNvPr id="6" name="rail-meaning-10">
            <a:extLst xmlns:a="http://schemas.openxmlformats.org/drawingml/2006/main">
              <a:ext uri="{FF2B5EF4-FFF2-40B4-BE49-F238E27FC236}">
                <a16:creationId xmlns:a16="http://schemas.microsoft.com/office/drawing/2014/main" id="{73892793-C871-42AC-BA4B-05FA7E36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0400"/>
            <a:ext cx="22479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No recorded hazard event, multi-commodity result, market-access controls, or causal design is joined.</a:t>
            </a:r>
          </a:p>
        </p:txBody>
      </p:sp>
      <p:sp>
        <p:nvSpPr>
          <p:cNvPr id="7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98015119-E7D1-4277-957E-0760262F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ooter-source-10">
            <a:extLst xmlns:a="http://schemas.openxmlformats.org/drawingml/2006/main">
              <a:ext uri="{FF2B5EF4-FFF2-40B4-BE49-F238E27FC236}">
                <a16:creationId xmlns:a16="http://schemas.microsoft.com/office/drawing/2014/main" id="{D7835C4A-7501-4C56-A269-1E5A807B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Claim gate defined before publication · attestation_chain: ai-first</a:t>
            </a:r>
          </a:p>
        </p:txBody>
      </p:sp>
      <p:sp>
        <p:nvSpPr>
          <p:cNvPr id="9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8D79994B-8359-4D78-AA63-A01DF664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0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966659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4B190236-3BFB-499D-8EF6-DDB643D3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A8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01C8E1D-BD11-4672-8B7F-C9B28D68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Retire the ranking. Investigate the wave.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33AC5D55-0023-43DD-BD70-F521C125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876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next claim-enabling object is an event-defined, multi-commodity market panel—not another country score.</a:t>
            </a:r>
          </a:p>
        </p:txBody>
      </p:sp>
      <p:sp>
        <p:nvSpPr>
          <p:cNvPr id="4" name="close-step-one">
            <a:extLst xmlns:a="http://schemas.openxmlformats.org/drawingml/2006/main">
              <a:ext uri="{FF2B5EF4-FFF2-40B4-BE49-F238E27FC236}">
                <a16:creationId xmlns:a16="http://schemas.microsoft.com/office/drawing/2014/main" id="{04D0872F-953A-4C36-AAAF-96149E32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  Observe the event</a:t>
            </a:r>
          </a:p>
        </p:txBody>
      </p:sp>
      <p:sp>
        <p:nvSpPr>
          <p:cNvPr id="5" name="close-step-two">
            <a:extLst xmlns:a="http://schemas.openxmlformats.org/drawingml/2006/main">
              <a:ext uri="{FF2B5EF4-FFF2-40B4-BE49-F238E27FC236}">
                <a16:creationId xmlns:a16="http://schemas.microsoft.com/office/drawing/2014/main" id="{480C9EF8-6D9F-4FBE-BE21-3E4E9692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767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  Align the market</a:t>
            </a:r>
          </a:p>
        </p:txBody>
      </p:sp>
      <p:sp>
        <p:nvSpPr>
          <p:cNvPr id="6" name="close-step-three">
            <a:extLst xmlns:a="http://schemas.openxmlformats.org/drawingml/2006/main">
              <a:ext uri="{FF2B5EF4-FFF2-40B4-BE49-F238E27FC236}">
                <a16:creationId xmlns:a16="http://schemas.microsoft.com/office/drawing/2014/main" id="{B6A15E2B-2C55-4F5A-B173-1418B07B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76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  Estimate the response</a:t>
            </a:r>
          </a:p>
        </p:txBody>
      </p:sp>
      <p:sp>
        <p:nvSpPr>
          <p:cNvPr id="7" name="close-detail-one">
            <a:extLst xmlns:a="http://schemas.openxmlformats.org/drawingml/2006/main">
              <a:ext uri="{FF2B5EF4-FFF2-40B4-BE49-F238E27FC236}">
                <a16:creationId xmlns:a16="http://schemas.microsoft.com/office/drawing/2014/main" id="{11A885E8-AE7C-46C9-8137-0D7E7645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Dated geocoded drought, flood, heat, or production shock</a:t>
            </a:r>
          </a:p>
        </p:txBody>
      </p:sp>
      <p:sp>
        <p:nvSpPr>
          <p:cNvPr id="8" name="close-detail-two">
            <a:extLst xmlns:a="http://schemas.openxmlformats.org/drawingml/2006/main">
              <a:ext uri="{FF2B5EF4-FFF2-40B4-BE49-F238E27FC236}">
                <a16:creationId xmlns:a16="http://schemas.microsoft.com/office/drawing/2014/main" id="{AA47CA65-75FF-4B58-ADEF-6939264F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482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Commodity, sourcing zone, roads, fuel, trade, exchange rate, and policy</a:t>
            </a:r>
          </a:p>
        </p:txBody>
      </p:sp>
      <p:sp>
        <p:nvSpPr>
          <p:cNvPr id="9" name="close-detail-three">
            <a:extLst xmlns:a="http://schemas.openxmlformats.org/drawingml/2006/main">
              <a:ext uri="{FF2B5EF4-FFF2-40B4-BE49-F238E27FC236}">
                <a16:creationId xmlns:a16="http://schemas.microsoft.com/office/drawing/2014/main" id="{E58E2F1C-A5FD-4EC3-8D44-BE1EEE2D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06D"/>
                </a:solidFill>
                <a:latin typeface="Arial"/>
                <a:ea typeface="Arial"/>
                <a:cs typeface="Arial"/>
              </a:rPr>
              <a:t>Pre-specified fixed effects, event study, or local projections</a:t>
            </a:r>
          </a:p>
        </p:txBody>
      </p:sp>
      <p:sp>
        <p:nvSpPr>
          <p:cNvPr id="10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0698A038-26C6-41BF-B7E4-BC15985F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389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footer-source-11">
            <a:extLst xmlns:a="http://schemas.openxmlformats.org/drawingml/2006/main">
              <a:ext uri="{FF2B5EF4-FFF2-40B4-BE49-F238E27FC236}">
                <a16:creationId xmlns:a16="http://schemas.microsoft.com/office/drawing/2014/main" id="{A1A9352A-EC49-450E-9423-646C38D6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962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06D"/>
                </a:solidFill>
                <a:latin typeface="Arial"/>
                <a:ea typeface="Arial"/>
                <a:cs typeface="Arial"/>
              </a:rPr>
              <a:t>Replication boundary: Baptista, Spray &amp; Unsal (2023), IMF Working Paper 2023/166</a:t>
            </a:r>
          </a:p>
        </p:txBody>
      </p:sp>
      <p:sp>
        <p:nvSpPr>
          <p:cNvPr id="12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3C49F12B-EE1B-4EA5-A028-EC43727B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5260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48316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2026-07-18T16:59:25.1740000Z</dcterms:created>
  <dcterms:modified xsi:type="dcterms:W3CDTF">2026-07-18T16:59:25.1740000Z</dcterms:modified>
</coreProperties>
</file>