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OpenStreetMap and the official health-facility registry disagree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ADB DMC measurement-gap evidence — Philippines and Bangladesh pilots,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question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maps of the same country, two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a planner asks </a:t>
            </a:r>
            <a:r>
              <a:rPr i="1"/>
              <a:t>how many health facilities serve this district</a:t>
            </a:r>
            <a:r>
              <a:rPr/>
              <a:t>, two reasonable public sources answer differently:</a:t>
            </a:r>
          </a:p>
          <a:p>
            <a:pPr lvl="0"/>
            <a:r>
              <a:rPr b="1"/>
              <a:t>OpenStreetMap</a:t>
            </a:r>
            <a:r>
              <a:rPr/>
              <a:t> — volunteer-edited, open, frequently used in spatial-analysis pipelines.</a:t>
            </a:r>
          </a:p>
          <a:p>
            <a:pPr lvl="0"/>
            <a:r>
              <a:rPr b="1"/>
              <a:t>The official national registry</a:t>
            </a:r>
            <a:r>
              <a:rPr/>
              <a:t> — administrative record kept by the health ministry, used for licensing and reporting.</a:t>
            </a:r>
          </a:p>
          <a:p>
            <a:pPr lvl="0" indent="0" marL="0">
              <a:buNone/>
            </a:pPr>
            <a:r>
              <a:rPr/>
              <a:t>Both are public. Both are used. They disagree, and the disagreement is </a:t>
            </a:r>
            <a:r>
              <a:rPr b="1"/>
              <a:t>systematic</a:t>
            </a:r>
            <a:r>
              <a:rPr/>
              <a:t>, not random.</a:t>
            </a:r>
          </a:p>
          <a:p>
            <a:pPr lvl="0" indent="0" marL="0">
              <a:buNone/>
            </a:pPr>
            <a:r>
              <a:rPr/>
              <a:t>This deck reports the first methodologically careful version of that finding for two ADB developing member economies. It carries an </a:t>
            </a:r>
            <a:r>
              <a:rPr>
                <a:latin typeface="Courier"/>
              </a:rPr>
              <a:t>ai-first</a:t>
            </a:r>
            <a:r>
              <a:rPr/>
              <a:t> attestation chain under </a:t>
            </a:r>
            <a:r>
              <a:rPr>
                <a:latin typeface="Courier"/>
              </a:rPr>
              <a:t>CONSTITUTION.md</a:t>
            </a:r>
            <a:r>
              <a:rPr/>
              <a:t> §18.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headline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OpenStreetMap captures a small share of the official registry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Active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OSM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OSM ÷ clinical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Philippines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DOH NHFR v2.0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44,267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6,401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17.1%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Bangladesh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DGHS Facility 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39,421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3,298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11.8%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ratios fall below the 30% fit-for-planning threshold from the methodological literature on African MOH systems.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pattern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Philippines — 9.8× rural-urban gradient</a:t>
            </a:r>
          </a:p>
        </p:txBody>
      </p:sp>
      <p:pic>
        <p:nvPicPr>
          <p:cNvPr descr="../../public-service-data-quality/generated/charts/psdq-choropleth-phl-adm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62300" y="1193800"/>
            <a:ext cx="283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Philippines — OSM ÷ NHFR clinical-tier ratio per ADM1 region. NCR (top of the country) shows the highest ratio (about 0.6); BARMM and the rural Mindanao regions show the lowest (about 0.07). 17 regions total.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NCR </a:t>
            </a:r>
            <a:r>
              <a:rPr b="1"/>
              <a:t>63.5%</a:t>
            </a:r>
            <a:r>
              <a:rPr/>
              <a:t> → BARMM </a:t>
            </a:r>
            <a:r>
              <a:rPr b="1"/>
              <a:t>6.5%</a:t>
            </a:r>
            <a:r>
              <a:rPr/>
              <a:t>. Every region disagrees with OSM by more than ±10%.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Bangladesh — same direction at smaller scale</a:t>
            </a:r>
          </a:p>
        </p:txBody>
      </p:sp>
      <p:pic>
        <p:nvPicPr>
          <p:cNvPr descr="../../public-service-data-quality/generated/charts/psdq-choropleth-bgd-adm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193800"/>
            <a:ext cx="2857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Bangladesh — OSM ÷ DGHS clinical-tier ratio per ADM1 division. Dhaka (centre) shows the highest ratio (about 0.20); Sylhet and Barisal show the lowest (about 0.06 to 0.08).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Dhaka </a:t>
            </a:r>
            <a:r>
              <a:rPr b="1"/>
              <a:t>20.1%</a:t>
            </a:r>
            <a:r>
              <a:rPr/>
              <a:t> → Barisal </a:t>
            </a:r>
            <a:r>
              <a:rPr b="1"/>
              <a:t>6.2%</a:t>
            </a:r>
            <a:r>
              <a:rPr/>
              <a:t>. Different country, different registry, different volunteer community, </a:t>
            </a:r>
            <a:r>
              <a:rPr b="1"/>
              <a:t>same direction</a:t>
            </a:r>
            <a:r>
              <a:rPr/>
              <a:t> of gradient.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Robustness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pattern survives every parameter at ±50%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</a:t>
            </a:r>
            <a:r>
              <a:rPr>
                <a:latin typeface="Courier"/>
              </a:rPr>
              <a:t>CONSTITUTION.md</a:t>
            </a:r>
            <a:r>
              <a:rPr/>
              <a:t> §6.6, every arbitrary numeric was tested at ±50%:</a:t>
            </a:r>
          </a:p>
          <a:p>
            <a:pPr lvl="0"/>
            <a:r>
              <a:rPr b="1"/>
              <a:t>Factype set cardinality</a:t>
            </a:r>
            <a:r>
              <a:rPr/>
              <a:t> (PHL 19→10 or 19→28; BGD keyword sets): ratio range 14.5%–17.3% (PHL), 11.6%–11.8% (BGD).</a:t>
            </a:r>
          </a:p>
          <a:p>
            <a:pPr lvl="0"/>
            <a:r>
              <a:rPr b="1"/>
              <a:t>Rural-urban gradient quintile size</a:t>
            </a:r>
            <a:r>
              <a:rPr/>
              <a:t> (20%→10% or 20%→30%): gradient ranges 4.0×–7.0× (PHL), 2.18×–3.21× (BGD).</a:t>
            </a:r>
          </a:p>
          <a:p>
            <a:pPr lvl="0"/>
            <a:r>
              <a:rPr b="1"/>
              <a:t>Falsification threshold</a:t>
            </a:r>
            <a:r>
              <a:rPr/>
              <a:t> (±5%, ±10%, ±15%): zero of 17 PHL ADM1 units within tolerance at any threshold.</a:t>
            </a:r>
          </a:p>
          <a:p>
            <a:pPr lvl="0" indent="0" marL="0">
              <a:buNone/>
            </a:pPr>
            <a:r>
              <a:rPr b="1"/>
              <a:t>No row flips the §8 decision rule in either country.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granularity upgrade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Philippines — at city/municipality level (1,632 of 1,642)</a:t>
            </a:r>
          </a:p>
        </p:txBody>
      </p:sp>
      <p:pic>
        <p:nvPicPr>
          <p:cNvPr descr="../../public-service-data-quality/generated/charts/psdq-choropleth-phl-adm3-pover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00400" y="1193800"/>
            <a:ext cx="2743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Philippines official 2023 poverty incidence at city/municipality level, joined to PSA/NAMRIA ADM3 polygons. Highest poverty concentrations in BARMM, the Cordillera, and parts of Eastern Visayas; lowest in NCR and Calabarzon. Ten polygons stay gray, marking source-missing rows that were not imputed.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Owner-downloaded PSA 2023 SAE workbook + PSA OpenSTAT direct estimates. </a:t>
            </a:r>
            <a:r>
              <a:rPr b="1"/>
              <a:t>10 polygons remain explicitly source-missing rather than imputed.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this matters for project preparation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pipelines that read OSM alone misread service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planner reading the public map alone reads a different country than a planner reading the registry alone. The miscount is not uniform:</a:t>
            </a:r>
          </a:p>
          <a:p>
            <a:pPr lvl="0"/>
            <a:r>
              <a:rPr/>
              <a:t>It is </a:t>
            </a:r>
            <a:r>
              <a:rPr b="1"/>
              <a:t>largest in rural and conflict-affected</a:t>
            </a:r>
            <a:r>
              <a:rPr/>
              <a:t> admin units.</a:t>
            </a:r>
          </a:p>
          <a:p>
            <a:pPr lvl="0"/>
            <a:r>
              <a:rPr/>
              <a:t>It is </a:t>
            </a:r>
            <a:r>
              <a:rPr b="1"/>
              <a:t>smallest in capital regions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So OSM-only denominators systematically under-state facility density </a:t>
            </a:r>
            <a:r>
              <a:rPr b="1"/>
              <a:t>exactly where additional access most matters</a:t>
            </a:r>
            <a:r>
              <a:rPr/>
              <a:t>. This is a methodological finding about data infrastructure, not a quality judgment about countries.</a:t>
            </a:r>
          </a:p>
          <a:p>
            <a:pPr lvl="0" indent="0" marL="0">
              <a:buNone/>
            </a:pPr>
            <a:r>
              <a:rPr/>
              <a:t>The same logic applies to schools, markets, and other public-service amenities visible in OpenStreetMap.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Honest limits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deck does NOT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does </a:t>
            </a:r>
            <a:r>
              <a:rPr b="1"/>
              <a:t>not</a:t>
            </a:r>
            <a:r>
              <a:rPr/>
              <a:t> claim OSM is wrong. Without a third independent source we cannot adjudicate which map is closer to ground truth.</a:t>
            </a:r>
          </a:p>
          <a:p>
            <a:pPr lvl="0"/>
            <a:r>
              <a:rPr/>
              <a:t>It does </a:t>
            </a:r>
            <a:r>
              <a:rPr b="1"/>
              <a:t>not</a:t>
            </a:r>
            <a:r>
              <a:rPr/>
              <a:t> rank countries. Registry definitions differ; the cross-country ratios are not directly comparable. The within-country gradient is the comparable quantity.</a:t>
            </a:r>
          </a:p>
          <a:p>
            <a:pPr lvl="0"/>
            <a:r>
              <a:rPr/>
              <a:t>It does </a:t>
            </a:r>
            <a:r>
              <a:rPr b="1"/>
              <a:t>not</a:t>
            </a:r>
            <a:r>
              <a:rPr/>
              <a:t> establish causal mechanisms. Volunteer behaviour, registry incentives, and conflict exposure all plausibly contribute in ways we have not separated.</a:t>
            </a:r>
          </a:p>
          <a:p>
            <a:pPr lvl="0"/>
            <a:r>
              <a:rPr/>
              <a:t>It is </a:t>
            </a:r>
            <a:r>
              <a:rPr b="1"/>
              <a:t>not</a:t>
            </a:r>
            <a:r>
              <a:rPr/>
              <a:t> human-final. Under §18, this artifact is AI-attested. Owner attestation, line-by-line paper reading, and contact with external reviewers (Macharia, Zipf, PIDS, BIDS) are pre-conditions for a human-final upgrade.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Reproducibility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number traces to a committed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Working paper:</a:t>
            </a:r>
            <a:r>
              <a:rPr/>
              <a:t> </a:t>
            </a:r>
            <a:r>
              <a:rPr>
                <a:latin typeface="Courier"/>
              </a:rPr>
              <a:t>articles/measurement-gap-philippines-bangladesh.md</a:t>
            </a:r>
          </a:p>
          <a:p>
            <a:pPr lvl="0"/>
            <a:r>
              <a:rPr b="1"/>
              <a:t>Brief:</a:t>
            </a:r>
            <a:r>
              <a:rPr/>
              <a:t> </a:t>
            </a:r>
            <a:r>
              <a:rPr>
                <a:latin typeface="Courier"/>
              </a:rPr>
              <a:t>articles/_brief/public-service-data-quality.md</a:t>
            </a:r>
          </a:p>
          <a:p>
            <a:pPr lvl="0"/>
            <a:r>
              <a:rPr b="1"/>
              <a:t>Pipeline:</a:t>
            </a:r>
            <a:r>
              <a:rPr/>
              <a:t> </a:t>
            </a:r>
            <a:r>
              <a:rPr>
                <a:latin typeface="Courier"/>
              </a:rPr>
              <a:t>public-service-data-quality/scripts/</a:t>
            </a:r>
          </a:p>
          <a:p>
            <a:pPr lvl="0"/>
            <a:r>
              <a:rPr b="1"/>
              <a:t>Sensitivity:</a:t>
            </a:r>
            <a:r>
              <a:rPr/>
              <a:t> </a:t>
            </a:r>
            <a:r>
              <a:rPr>
                <a:latin typeface="Courier"/>
              </a:rPr>
              <a:t>public-service-data-quality/sensitivity.md</a:t>
            </a:r>
          </a:p>
          <a:p>
            <a:pPr lvl="0"/>
            <a:r>
              <a:rPr b="1"/>
              <a:t>Limitations:</a:t>
            </a:r>
            <a:r>
              <a:rPr/>
              <a:t> </a:t>
            </a:r>
            <a:r>
              <a:rPr>
                <a:latin typeface="Courier"/>
              </a:rPr>
              <a:t>public-service-data-quality/limitations.md</a:t>
            </a:r>
          </a:p>
          <a:p>
            <a:pPr lvl="0"/>
            <a:r>
              <a:rPr b="1"/>
              <a:t>Evidence packet:</a:t>
            </a:r>
            <a:r>
              <a:rPr/>
              <a:t> </a:t>
            </a:r>
            <a:r>
              <a:rPr>
                <a:latin typeface="Courier"/>
              </a:rPr>
              <a:t>/program/public-service-data-quality/evidence</a:t>
            </a:r>
          </a:p>
          <a:p>
            <a:pPr lvl="0"/>
            <a:r>
              <a:rPr b="1"/>
              <a:t>Charts:</a:t>
            </a:r>
            <a:r>
              <a:rPr/>
              <a:t> rendered by </a:t>
            </a:r>
            <a:r>
              <a:rPr>
                <a:latin typeface="Courier"/>
              </a:rPr>
              <a:t>build-choropleth.py</a:t>
            </a:r>
            <a:r>
              <a:rPr/>
              <a:t> from </a:t>
            </a:r>
            <a:r>
              <a:rPr>
                <a:latin typeface="Courier"/>
              </a:rPr>
              <a:t>generated/public-service-data-quality-{PHL,BGD}.csv</a:t>
            </a:r>
            <a:r>
              <a:rPr/>
              <a:t> and </a:t>
            </a:r>
            <a:r>
              <a:rPr>
                <a:latin typeface="Courier"/>
              </a:rPr>
              <a:t>generated/psdq-phl-admin3-poverty-context.csv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Attestation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deck is </a:t>
            </a:r>
            <a:r>
              <a:rPr>
                <a:latin typeface="Courier"/>
              </a:rPr>
              <a:t>attestation_chain: ai-first</a:t>
            </a:r>
            <a:r>
              <a:rPr/>
              <a:t> under </a:t>
            </a:r>
            <a:r>
              <a:rPr>
                <a:latin typeface="Courier"/>
              </a:rPr>
              <a:t>CONSTITUTION.md</a:t>
            </a:r>
            <a:r>
              <a:rPr/>
              <a:t> §18.</a:t>
            </a:r>
          </a:p>
          <a:p>
            <a:pPr lvl="0" indent="0" marL="0">
              <a:buNone/>
            </a:pPr>
            <a:r>
              <a:rPr/>
              <a:t>Path to human-final:</a:t>
            </a:r>
          </a:p>
          <a:p>
            <a:pPr lvl="0" indent="-342900" marL="342900">
              <a:buAutoNum type="arabicPeriod"/>
            </a:pPr>
            <a:r>
              <a:rPr/>
              <a:t>Owner reads each cited paper line-by-line.</a:t>
            </a:r>
          </a:p>
          <a:p>
            <a:pPr lvl="0" indent="-342900" marL="342900">
              <a:buAutoNum type="arabicPeriod"/>
            </a:pPr>
            <a:r>
              <a:rPr/>
              <a:t>Owner runs internal review with co-author Arturo Martinez Jr.</a:t>
            </a:r>
          </a:p>
          <a:p>
            <a:pPr lvl="0" indent="-342900" marL="342900">
              <a:buAutoNum type="arabicPeriod"/>
            </a:pPr>
            <a:r>
              <a:rPr/>
              <a:t>Owner contacts at least one external reviewer (Macharia / Zipf / PIDS / BIDS) and replaces the AI-synthesized </a:t>
            </a:r>
            <a:r>
              <a:rPr>
                <a:latin typeface="Courier"/>
              </a:rPr>
              <a:t>review-external.md</a:t>
            </a:r>
            <a:r>
              <a:rPr/>
              <a:t> §3 with the actual feedback.</a:t>
            </a:r>
          </a:p>
          <a:p>
            <a:pPr lvl="0" indent="-342900" marL="342900">
              <a:buAutoNum type="arabicPeriod"/>
            </a:pPr>
            <a:r>
              <a:rPr/>
              <a:t>Owner-signed commit promotes the artifact to </a:t>
            </a:r>
            <a:r>
              <a:rPr>
                <a:latin typeface="Courier"/>
              </a:rPr>
              <a:t>human-final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OpenStreetMap and the official health-facility registry disagree</dc:title>
  <dc:creator>Raymond Adofina · Asian Development Bank</dc:creator>
  <cp:keywords/>
  <dcterms:created xsi:type="dcterms:W3CDTF">2026-05-07T02:41:04Z</dcterms:created>
  <dcterms:modified xsi:type="dcterms:W3CDTF">2026-05-07T02:41:04Z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2026-05-07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PR</vt:lpwstr>
  </property>
  <property fmtid="{D5CDD505-2E9C-101B-9397-08002B2CF9AE}" pid="19" name="program">
    <vt:lpwstr>public-service-data-quality</vt:lpwstr>
  </property>
  <property fmtid="{D5CDD505-2E9C-101B-9397-08002B2CF9AE}" pid="20" name="slug">
    <vt:lpwstr>public-service-data-quality-deck</vt:lpwstr>
  </property>
  <property fmtid="{D5CDD505-2E9C-101B-9397-08002B2CF9AE}" pid="21" name="status">
    <vt:lpwstr>draft</vt:lpwstr>
  </property>
  <property fmtid="{D5CDD505-2E9C-101B-9397-08002B2CF9AE}" pid="22" name="subtitle">
    <vt:lpwstr>ADB DMC measurement-gap evidence — Philippines and Bangladesh pilots,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