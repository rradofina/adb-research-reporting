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migration leaders change when population enters the denominator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44-economy stock audit — AI-first under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stock measure cannot answer two migration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inherited 44-economy panel ranks UN DESA 2024 emigrant stock by origin.</a:t>
            </a:r>
          </a:p>
          <a:p>
            <a:pPr lvl="0"/>
            <a:r>
              <a:rPr/>
              <a:t>Useful for diaspora-scale and service-population questions.</a:t>
            </a:r>
          </a:p>
          <a:p>
            <a:pPr lvl="0"/>
            <a:r>
              <a:rPr/>
              <a:t>Not a current flow, migration rate, or individual propensity.</a:t>
            </a:r>
          </a:p>
          <a:p>
            <a:pPr lvl="0"/>
            <a:r>
              <a:rPr/>
              <a:t>Test: divide the same stock by WDI 2024 resident population.</a:t>
            </a:r>
          </a:p>
          <a:p>
            <a:pPr lvl="0" indent="0" marL="0">
              <a:buNone/>
            </a:pPr>
            <a:r>
              <a:rPr b="1"/>
              <a:t>Distinguish scale, population-relative stock, and forced displacement before interpreting an origin ranking.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attestation_chain: ai-first</a:t>
            </a:r>
            <a:r>
              <a:rPr/>
              <a:t>; current maturity PP.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India and China lead by scale; Samoa and Tonga after normalization</a:t>
            </a:r>
          </a:p>
        </p:txBody>
      </p:sp>
      <p:pic>
        <p:nvPicPr>
          <p:cNvPr descr="../../migration-displacement-signals/generated/charts/migration-rank-inver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Samoa and Tonga exceed 50%; three denominators are withheld</a:t>
            </a:r>
          </a:p>
        </p:txBody>
      </p:sp>
      <p:pic>
        <p:nvPicPr>
          <p:cNvPr descr="../../migration-displacement-signals/generated/charts/migration-population-share-profi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48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result survives every ranking choice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Top 3:</a:t>
            </a:r>
            <a:r>
              <a:rPr/>
              <a:t> no shared origins; 0% overlap.</a:t>
            </a:r>
          </a:p>
          <a:p>
            <a:pPr lvl="0"/>
            <a:r>
              <a:rPr b="1"/>
              <a:t>Top 5:</a:t>
            </a:r>
            <a:r>
              <a:rPr/>
              <a:t> no shared origins; 0% overlap.</a:t>
            </a:r>
          </a:p>
          <a:p>
            <a:pPr lvl="0"/>
            <a:r>
              <a:rPr b="1"/>
              <a:t>Top 8:</a:t>
            </a:r>
            <a:r>
              <a:rPr/>
              <a:t> Afghanistan only; 12.5% overlap.</a:t>
            </a:r>
          </a:p>
          <a:p>
            <a:pPr lvl="0" indent="0" marL="0">
              <a:buNone/>
            </a:pPr>
            <a:r>
              <a:rPr/>
              <a:t>The result remains material at overlap thresholds of </a:t>
            </a:r>
            <a:r>
              <a:rPr b="1"/>
              <a:t>25%, 50%, and 75%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Decision: retire the absolute-stock intensity headline.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Top-three corridor shares range from 45.15% to 80.15%</a:t>
            </a:r>
          </a:p>
        </p:txBody>
      </p:sp>
      <p:pic>
        <p:nvPicPr>
          <p:cNvPr descr="../../migration-displacement-signals/generated/charts/migration-corridor-concentr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12900" y="1193800"/>
            <a:ext cx="5918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Afghanistan is a forced-displacement-majority exception</a:t>
            </a:r>
          </a:p>
        </p:txBody>
      </p:sp>
      <p:pic>
        <p:nvPicPr>
          <p:cNvPr descr="../../migration-displacement-signals/generated/charts/migration-forced-displacement-compos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87500" y="1193800"/>
            <a:ext cx="5956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source in the spine classifies every migration purpose</a:t>
            </a:r>
          </a:p>
        </p:txBody>
      </p:sp>
      <p:pic>
        <p:nvPicPr>
          <p:cNvPr descr="../../migration-displacement-signals/generated/charts/migration-source-observabil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1193800"/>
            <a:ext cx="6553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denominator that matches the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Use absolute stock for diaspora scale and service populations.</a:t>
            </a:r>
          </a:p>
          <a:p>
            <a:pPr lvl="0" indent="-342900" marL="342900">
              <a:buAutoNum type="arabicPeriod"/>
            </a:pPr>
            <a:r>
              <a:rPr/>
              <a:t>Use stock relative to resident population for population-relative exposure.</a:t>
            </a:r>
          </a:p>
          <a:p>
            <a:pPr lvl="0" indent="-342900" marL="342900">
              <a:buAutoNum type="arabicPeriod"/>
            </a:pPr>
            <a:r>
              <a:rPr/>
              <a:t>Use UNHCR categories to identify forced-displacement cases.</a:t>
            </a:r>
          </a:p>
          <a:p>
            <a:pPr lvl="0" indent="-342900" marL="342900">
              <a:buAutoNum type="arabicPeriod"/>
            </a:pPr>
            <a:r>
              <a:rPr/>
              <a:t>For labor mobility or current flows, obtain annual flow, visa, recruitment, return, or household data.</a:t>
            </a:r>
          </a:p>
          <a:p>
            <a:pPr lvl="0" indent="0" marL="0">
              <a:buNone/>
            </a:pPr>
            <a:r>
              <a:rPr/>
              <a:t>Every number traces to committed evidence. </a:t>
            </a:r>
            <a:r>
              <a:rPr>
                <a:latin typeface="Courier"/>
              </a:rPr>
              <a:t>attestation_chain: ai-first</a:t>
            </a:r>
            <a:r>
              <a:rPr/>
              <a:t>; human-final requires owner re-attestation and named expert review.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migration leaders change when population enters the denominator</dc:title>
  <dc:creator>Raymond Adofina · Asian Development Bank</dc:creator>
  <cp:keywords/>
  <dcterms:created xsi:type="dcterms:W3CDTF">2026-07-18T10:25:03Z</dcterms:created>
  <dcterms:modified xsi:type="dcterms:W3CDTF">2026-07-18T10:25:03Z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 2026-04-25</vt:lpwstr>
  </property>
  <property fmtid="{D5CDD505-2E9C-101B-9397-08002B2CF9AE}" pid="8" name="date">
    <vt:lpwstr>2026-07-18</vt:lpwstr>
  </property>
  <property fmtid="{D5CDD505-2E9C-101B-9397-08002B2CF9AE}" pid="9" name="dmc_framing_check">
    <vt:lpwstr>passing</vt:lpwstr>
  </property>
  <property fmtid="{D5CDD505-2E9C-101B-9397-08002B2CF9AE}" pid="10" name="engines">
    <vt:lpwstr/>
  </property>
  <property fmtid="{D5CDD505-2E9C-101B-9397-08002B2CF9AE}" pid="11" name="geographies">
    <vt:lpwstr/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ind">
    <vt:lpwstr>deck</vt:lpwstr>
  </property>
  <property fmtid="{D5CDD505-2E9C-101B-9397-08002B2CF9AE}" pid="16" name="labels">
    <vt:lpwstr/>
  </property>
  <property fmtid="{D5CDD505-2E9C-101B-9397-08002B2CF9AE}" pid="17" name="license">
    <vt:lpwstr/>
  </property>
  <property fmtid="{D5CDD505-2E9C-101B-9397-08002B2CF9AE}" pid="18" name="maturity">
    <vt:lpwstr>PP</vt:lpwstr>
  </property>
  <property fmtid="{D5CDD505-2E9C-101B-9397-08002B2CF9AE}" pid="19" name="program">
    <vt:lpwstr>migration-displacement-signals</vt:lpwstr>
  </property>
  <property fmtid="{D5CDD505-2E9C-101B-9397-08002B2CF9AE}" pid="20" name="slug">
    <vt:lpwstr>migration-displacement-signals-deck</vt:lpwstr>
  </property>
  <property fmtid="{D5CDD505-2E9C-101B-9397-08002B2CF9AE}" pid="21" name="status">
    <vt:lpwstr>draft</vt:lpwstr>
  </property>
  <property fmtid="{D5CDD505-2E9C-101B-9397-08002B2CF9AE}" pid="22" name="subtitle">
    <vt:lpwstr>A 44-economy stock audit — AI-first under §18</vt:lpwstr>
  </property>
  <property fmtid="{D5CDD505-2E9C-101B-9397-08002B2CF9AE}" pid="23" name="tier">
    <vt:lpwstr>slides</vt:lpwstr>
  </property>
  <property fmtid="{D5CDD505-2E9C-101B-9397-08002B2CF9AE}" pid="24" name="toc-title">
    <vt:lpwstr>Table of contents</vt:lpwstr>
  </property>
  <property fmtid="{D5CDD505-2E9C-101B-9397-08002B2CF9AE}" pid="25" name="topics">
    <vt:lpwstr/>
  </property>
</Properties>
</file>