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slide" Target="slides/slide19.xml" /><Relationship Id="rId22" Type="http://schemas.openxmlformats.org/officeDocument/2006/relationships/viewProps" Target="viewProps.xml" /><Relationship Id="rId21" Type="http://schemas.openxmlformats.org/officeDocument/2006/relationships/presProps" Target="presProps.xml" /><Relationship Id="rId1" Type="http://schemas.openxmlformats.org/officeDocument/2006/relationships/slideMaster" Target="slideMasters/slideMaster1.xml" /><Relationship Id="rId24" Type="http://schemas.openxmlformats.org/officeDocument/2006/relationships/tableStyles" Target="tableStyles.xml" /><Relationship Id="rId23"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1.png" /></Relationships>
</file>

<file path=ppt/slides/_rels/slide9.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1.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3.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1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5.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1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7.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1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9.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pPr lvl="0" indent="0" marL="0">
              <a:buNone/>
            </a:pPr>
            <a:r>
              <a:rPr/>
              <a:t>Five DMCs persistently cluster as remittance-corridor-stress-exposed</a:t>
            </a:r>
          </a:p>
        </p:txBody>
      </p:sp>
      <p:sp>
        <p:nvSpPr>
          <p:cNvPr id="3" name="Subtitle 2"/>
          <p:cNvSpPr>
            <a:spLocks noGrp="1"/>
          </p:cNvSpPr>
          <p:nvPr>
            <p:ph idx="1" type="subTitle"/>
          </p:nvPr>
        </p:nvSpPr>
        <p:spPr>
          <a:xfrm>
            <a:off x="1371600" y="2914650"/>
            <a:ext cx="6400800" cy="1314450"/>
          </a:xfrm>
        </p:spPr>
        <p:txBody>
          <a:bodyPr/>
          <a:lstStyle/>
          <a:p>
            <a:pPr lvl="0" indent="0" marL="0">
              <a:buNone/>
            </a:pPr>
            <a:r>
              <a:rPr/>
              <a:t>A cap-stable, aggregation-stable top-five set across the ±50% sensitivity suite — ADB DMCs, AI-first under §18</a:t>
            </a:r>
            <a:br/>
            <a:br/>
            <a:r>
              <a:rPr/>
              <a:t>Raymond Adofina · Asian Development Bank</a:t>
            </a:r>
          </a:p>
        </p:txBody>
      </p:sp>
      <p:sp>
        <p:nvSpPr>
          <p:cNvPr id="4" name="Date Placeholder 3"/>
          <p:cNvSpPr>
            <a:spLocks noGrp="1"/>
          </p:cNvSpPr>
          <p:nvPr>
            <p:ph idx="10" sz="half" type="dt"/>
          </p:nvPr>
        </p:nvSpPr>
        <p:spPr/>
        <p:txBody>
          <a:bodyPr/>
          <a:lstStyle/>
          <a:p>
            <a:pPr lvl="0" indent="0" marL="0">
              <a:buNone/>
            </a:pPr>
            <a:r>
              <a:rPr/>
              <a:t>2026-05-12</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The question</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Two indicators, read separately today</a:t>
            </a:r>
          </a:p>
        </p:txBody>
      </p:sp>
      <p:sp>
        <p:nvSpPr>
          <p:cNvPr id="3" name="Content Placeholder 2"/>
          <p:cNvSpPr>
            <a:spLocks noGrp="1"/>
          </p:cNvSpPr>
          <p:nvPr>
            <p:ph idx="1"/>
          </p:nvPr>
        </p:nvSpPr>
        <p:spPr/>
        <p:txBody>
          <a:bodyPr/>
          <a:lstStyle/>
          <a:p>
            <a:pPr lvl="0" indent="0" marL="0">
              <a:buNone/>
            </a:pPr>
            <a:r>
              <a:rPr/>
              <a:t>A planner deciding where corridor-cost interventions should go has two public indicators:</a:t>
            </a:r>
          </a:p>
          <a:p>
            <a:pPr lvl="0"/>
            <a:r>
              <a:rPr b="1"/>
              <a:t>WDI: personal remittances received, % GDP</a:t>
            </a:r>
            <a:r>
              <a:rPr/>
              <a:t> — macro dependence. Published yearly by the World Bank.</a:t>
            </a:r>
          </a:p>
          <a:p>
            <a:pPr lvl="0"/>
            <a:r>
              <a:rPr b="1"/>
              <a:t>RPW: Remittance Prices Worldwide</a:t>
            </a:r>
            <a:r>
              <a:rPr/>
              <a:t> — published corridor-firm costs, destination side. Published quarterly by the World Bank.</a:t>
            </a:r>
          </a:p>
          <a:p>
            <a:pPr lvl="0" indent="0" marL="0">
              <a:buNone/>
            </a:pPr>
            <a:r>
              <a:rPr/>
              <a:t>The two are usually read separately. The economies exposed on </a:t>
            </a:r>
            <a:r>
              <a:rPr b="1"/>
              <a:t>both axes</a:t>
            </a:r>
            <a:r>
              <a:rPr/>
              <a:t> — high dependence </a:t>
            </a:r>
            <a:r>
              <a:rPr i="1"/>
              <a:t>and</a:t>
            </a:r>
            <a:r>
              <a:rPr/>
              <a:t> high cost — do not announce themselves.</a:t>
            </a:r>
          </a:p>
          <a:p>
            <a:pPr lvl="0" indent="0" marL="0">
              <a:buNone/>
            </a:pPr>
            <a:r>
              <a:rPr/>
              <a:t>This deck reports a joint screen for ADB developing member economies. It carries an </a:t>
            </a:r>
            <a:r>
              <a:rPr>
                <a:latin typeface="Courier"/>
              </a:rPr>
              <a:t>ai-first</a:t>
            </a:r>
            <a:r>
              <a:rPr/>
              <a:t> attestation chain under </a:t>
            </a:r>
            <a:r>
              <a:rPr>
                <a:latin typeface="Courier"/>
              </a:rPr>
              <a:t>CONSTITUTION.md</a:t>
            </a:r>
            <a:r>
              <a:rPr/>
              <a:t> §18.</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The headline</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Five DMCs sit in the top five of the joint exposure screen</a:t>
            </a:r>
          </a:p>
        </p:txBody>
      </p:sp>
      <p:graphicFrame>
        <p:nvGraphicFramePr>
          <p:cNvPr id="6" name="Content Placeholder 5"/>
          <p:cNvGraphicFramePr>
            <a:graphicFrameLocks noGrp="1"/>
          </p:cNvGraphicFramePr>
          <p:nvPr>
            <p:ph idx="1"/>
          </p:nvPr>
        </p:nvGraphicFramePr>
        <p:xfrm>
          <a:off x="457200" y="1193800"/>
          <a:ext cx="8229600" cy="3390900"/>
        </p:xfrm>
        <a:graphic>
          <a:graphicData uri="http://schemas.openxmlformats.org/drawingml/2006/table">
            <a:tbl>
              <a:tblPr firstRow="1" bandRow="1">
                <a:tableStyleId>{5C22544A-7EE6-4342-B048-85BDC9FD1C3A}</a:tableStyleId>
              </a:tblPr>
              <a:tblGrid>
                <a:gridCol w="1371600"/>
                <a:gridCol w="1371600"/>
                <a:gridCol w="1828800"/>
                <a:gridCol w="1828800"/>
                <a:gridCol w="1828800"/>
              </a:tblGrid>
              <a:tr h="0">
                <a:tc>
                  <a:txBody>
                    <a:bodyPr/>
                    <a:lstStyle/>
                    <a:p>
                      <a:pPr lvl="0" indent="0" marL="0">
                        <a:buNone/>
                      </a:pPr>
                      <a:r>
                        <a:rPr/>
                        <a:t>Rank</a:t>
                      </a:r>
                    </a:p>
                  </a:txBody>
                  <a:tcPr/>
                </a:tc>
                <a:tc>
                  <a:txBody>
                    <a:bodyPr/>
                    <a:lstStyle/>
                    <a:p>
                      <a:pPr lvl="0" indent="0" marL="0">
                        <a:buNone/>
                      </a:pPr>
                      <a:r>
                        <a:rPr/>
                        <a:t>DMC</a:t>
                      </a:r>
                    </a:p>
                  </a:txBody>
                  <a:tcPr/>
                </a:tc>
                <a:tc>
                  <a:txBody>
                    <a:bodyPr/>
                    <a:lstStyle/>
                    <a:p>
                      <a:pPr lvl="0" indent="0" marL="0" algn="r">
                        <a:buNone/>
                      </a:pPr>
                      <a:r>
                        <a:rPr/>
                        <a:t>Dependence (% GDP)</a:t>
                      </a:r>
                    </a:p>
                  </a:txBody>
                  <a:tcPr/>
                </a:tc>
                <a:tc>
                  <a:txBody>
                    <a:bodyPr/>
                    <a:lstStyle/>
                    <a:p>
                      <a:pPr lvl="0" indent="0" marL="0" algn="r">
                        <a:buNone/>
                      </a:pPr>
                      <a:r>
                        <a:rPr/>
                        <a:t>Mean cost %</a:t>
                      </a:r>
                    </a:p>
                  </a:txBody>
                  <a:tcPr/>
                </a:tc>
                <a:tc>
                  <a:txBody>
                    <a:bodyPr/>
                    <a:lstStyle/>
                    <a:p>
                      <a:pPr lvl="0" indent="0" marL="0" algn="r">
                        <a:buNone/>
                      </a:pPr>
                      <a:r>
                        <a:rPr/>
                        <a:t>Cost vs SDG 10.c.1 (3%)</a:t>
                      </a:r>
                    </a:p>
                  </a:txBody>
                  <a:tcPr/>
                </a:tc>
              </a:tr>
              <a:tr h="0">
                <a:tc>
                  <a:txBody>
                    <a:bodyPr/>
                    <a:lstStyle/>
                    <a:p>
                      <a:pPr lvl="0" indent="0" marL="0">
                        <a:buNone/>
                      </a:pPr>
                      <a:r>
                        <a:rPr/>
                        <a:t>1</a:t>
                      </a:r>
                    </a:p>
                  </a:txBody>
                </a:tc>
                <a:tc>
                  <a:txBody>
                    <a:bodyPr/>
                    <a:lstStyle/>
                    <a:p>
                      <a:pPr lvl="0" indent="0" marL="0">
                        <a:buNone/>
                      </a:pPr>
                      <a:r>
                        <a:rPr/>
                        <a:t>Kyrgyz Republic</a:t>
                      </a:r>
                    </a:p>
                  </a:txBody>
                </a:tc>
                <a:tc>
                  <a:txBody>
                    <a:bodyPr/>
                    <a:lstStyle/>
                    <a:p>
                      <a:pPr lvl="0" indent="0" marL="0" algn="r">
                        <a:buNone/>
                      </a:pPr>
                      <a:r>
                        <a:rPr/>
                        <a:t>26.6</a:t>
                      </a:r>
                    </a:p>
                  </a:txBody>
                </a:tc>
                <a:tc>
                  <a:txBody>
                    <a:bodyPr/>
                    <a:lstStyle/>
                    <a:p>
                      <a:pPr lvl="0" indent="0" marL="0" algn="r">
                        <a:buNone/>
                      </a:pPr>
                      <a:r>
                        <a:rPr/>
                        <a:t>10.5</a:t>
                      </a:r>
                    </a:p>
                  </a:txBody>
                </a:tc>
                <a:tc>
                  <a:txBody>
                    <a:bodyPr/>
                    <a:lstStyle/>
                    <a:p>
                      <a:pPr lvl="0" indent="0" marL="0" algn="r">
                        <a:buNone/>
                      </a:pPr>
                      <a:r>
                        <a:rPr/>
                        <a:t>3.5×</a:t>
                      </a:r>
                    </a:p>
                  </a:txBody>
                </a:tc>
              </a:tr>
              <a:tr h="0">
                <a:tc>
                  <a:txBody>
                    <a:bodyPr/>
                    <a:lstStyle/>
                    <a:p>
                      <a:pPr lvl="0" indent="0" marL="0">
                        <a:buNone/>
                      </a:pPr>
                      <a:r>
                        <a:rPr/>
                        <a:t>2</a:t>
                      </a:r>
                    </a:p>
                  </a:txBody>
                </a:tc>
                <a:tc>
                  <a:txBody>
                    <a:bodyPr/>
                    <a:lstStyle/>
                    <a:p>
                      <a:pPr lvl="0" indent="0" marL="0">
                        <a:buNone/>
                      </a:pPr>
                      <a:r>
                        <a:rPr/>
                        <a:t>Samoa</a:t>
                      </a:r>
                    </a:p>
                  </a:txBody>
                </a:tc>
                <a:tc>
                  <a:txBody>
                    <a:bodyPr/>
                    <a:lstStyle/>
                    <a:p>
                      <a:pPr lvl="0" indent="0" marL="0" algn="r">
                        <a:buNone/>
                      </a:pPr>
                      <a:r>
                        <a:rPr/>
                        <a:t>24.0</a:t>
                      </a:r>
                    </a:p>
                  </a:txBody>
                </a:tc>
                <a:tc>
                  <a:txBody>
                    <a:bodyPr/>
                    <a:lstStyle/>
                    <a:p>
                      <a:pPr lvl="0" indent="0" marL="0" algn="r">
                        <a:buNone/>
                      </a:pPr>
                      <a:r>
                        <a:rPr/>
                        <a:t>8.0</a:t>
                      </a:r>
                    </a:p>
                  </a:txBody>
                </a:tc>
                <a:tc>
                  <a:txBody>
                    <a:bodyPr/>
                    <a:lstStyle/>
                    <a:p>
                      <a:pPr lvl="0" indent="0" marL="0" algn="r">
                        <a:buNone/>
                      </a:pPr>
                      <a:r>
                        <a:rPr/>
                        <a:t>2.7×</a:t>
                      </a:r>
                    </a:p>
                  </a:txBody>
                </a:tc>
              </a:tr>
              <a:tr h="0">
                <a:tc>
                  <a:txBody>
                    <a:bodyPr/>
                    <a:lstStyle/>
                    <a:p>
                      <a:pPr lvl="0" indent="0" marL="0">
                        <a:buNone/>
                      </a:pPr>
                      <a:r>
                        <a:rPr/>
                        <a:t>3</a:t>
                      </a:r>
                    </a:p>
                  </a:txBody>
                </a:tc>
                <a:tc>
                  <a:txBody>
                    <a:bodyPr/>
                    <a:lstStyle/>
                    <a:p>
                      <a:pPr lvl="0" indent="0" marL="0">
                        <a:buNone/>
                      </a:pPr>
                      <a:r>
                        <a:rPr/>
                        <a:t>Tonga</a:t>
                      </a:r>
                    </a:p>
                  </a:txBody>
                </a:tc>
                <a:tc>
                  <a:txBody>
                    <a:bodyPr/>
                    <a:lstStyle/>
                    <a:p>
                      <a:pPr lvl="0" indent="0" marL="0" algn="r">
                        <a:buNone/>
                      </a:pPr>
                      <a:r>
                        <a:rPr/>
                        <a:t>42.6</a:t>
                      </a:r>
                    </a:p>
                  </a:txBody>
                </a:tc>
                <a:tc>
                  <a:txBody>
                    <a:bodyPr/>
                    <a:lstStyle/>
                    <a:p>
                      <a:pPr lvl="0" indent="0" marL="0" algn="r">
                        <a:buNone/>
                      </a:pPr>
                      <a:r>
                        <a:rPr/>
                        <a:t>7.5</a:t>
                      </a:r>
                    </a:p>
                  </a:txBody>
                </a:tc>
                <a:tc>
                  <a:txBody>
                    <a:bodyPr/>
                    <a:lstStyle/>
                    <a:p>
                      <a:pPr lvl="0" indent="0" marL="0" algn="r">
                        <a:buNone/>
                      </a:pPr>
                      <a:r>
                        <a:rPr/>
                        <a:t>2.5×</a:t>
                      </a:r>
                    </a:p>
                  </a:txBody>
                </a:tc>
              </a:tr>
              <a:tr h="0">
                <a:tc>
                  <a:txBody>
                    <a:bodyPr/>
                    <a:lstStyle/>
                    <a:p>
                      <a:pPr lvl="0" indent="0" marL="0">
                        <a:buNone/>
                      </a:pPr>
                      <a:r>
                        <a:rPr/>
                        <a:t>4</a:t>
                      </a:r>
                    </a:p>
                  </a:txBody>
                </a:tc>
                <a:tc>
                  <a:txBody>
                    <a:bodyPr/>
                    <a:lstStyle/>
                    <a:p>
                      <a:pPr lvl="0" indent="0" marL="0">
                        <a:buNone/>
                      </a:pPr>
                      <a:r>
                        <a:rPr/>
                        <a:t>Vanuatu</a:t>
                      </a:r>
                    </a:p>
                  </a:txBody>
                </a:tc>
                <a:tc>
                  <a:txBody>
                    <a:bodyPr/>
                    <a:lstStyle/>
                    <a:p>
                      <a:pPr lvl="0" indent="0" marL="0" algn="r">
                        <a:buNone/>
                      </a:pPr>
                      <a:r>
                        <a:rPr/>
                        <a:t>18.8</a:t>
                      </a:r>
                    </a:p>
                  </a:txBody>
                </a:tc>
                <a:tc>
                  <a:txBody>
                    <a:bodyPr/>
                    <a:lstStyle/>
                    <a:p>
                      <a:pPr lvl="0" indent="0" marL="0" algn="r">
                        <a:buNone/>
                      </a:pPr>
                      <a:r>
                        <a:rPr/>
                        <a:t>9.5</a:t>
                      </a:r>
                    </a:p>
                  </a:txBody>
                </a:tc>
                <a:tc>
                  <a:txBody>
                    <a:bodyPr/>
                    <a:lstStyle/>
                    <a:p>
                      <a:pPr lvl="0" indent="0" marL="0" algn="r">
                        <a:buNone/>
                      </a:pPr>
                      <a:r>
                        <a:rPr/>
                        <a:t>3.2×</a:t>
                      </a:r>
                    </a:p>
                  </a:txBody>
                </a:tc>
              </a:tr>
              <a:tr h="0">
                <a:tc>
                  <a:txBody>
                    <a:bodyPr/>
                    <a:lstStyle/>
                    <a:p>
                      <a:pPr lvl="0" indent="0" marL="0">
                        <a:buNone/>
                      </a:pPr>
                      <a:r>
                        <a:rPr/>
                        <a:t>5</a:t>
                      </a:r>
                    </a:p>
                  </a:txBody>
                </a:tc>
                <a:tc>
                  <a:txBody>
                    <a:bodyPr/>
                    <a:lstStyle/>
                    <a:p>
                      <a:pPr lvl="0" indent="0" marL="0">
                        <a:buNone/>
                      </a:pPr>
                      <a:r>
                        <a:rPr/>
                        <a:t>Nepal</a:t>
                      </a:r>
                    </a:p>
                  </a:txBody>
                </a:tc>
                <a:tc>
                  <a:txBody>
                    <a:bodyPr/>
                    <a:lstStyle/>
                    <a:p>
                      <a:pPr lvl="0" indent="0" marL="0" algn="r">
                        <a:buNone/>
                      </a:pPr>
                      <a:r>
                        <a:rPr/>
                        <a:t>26.2</a:t>
                      </a:r>
                    </a:p>
                  </a:txBody>
                </a:tc>
                <a:tc>
                  <a:txBody>
                    <a:bodyPr/>
                    <a:lstStyle/>
                    <a:p>
                      <a:pPr lvl="0" indent="0" marL="0" algn="r">
                        <a:buNone/>
                      </a:pPr>
                      <a:r>
                        <a:rPr/>
                        <a:t>6.7</a:t>
                      </a:r>
                    </a:p>
                  </a:txBody>
                </a:tc>
                <a:tc>
                  <a:txBody>
                    <a:bodyPr/>
                    <a:lstStyle/>
                    <a:p>
                      <a:pPr lvl="0" indent="0" marL="0" algn="r">
                        <a:buNone/>
                      </a:pPr>
                      <a:r>
                        <a:rPr/>
                        <a:t>2.2×</a:t>
                      </a:r>
                    </a:p>
                  </a:txBody>
                </a:tc>
              </a:tr>
            </a:tbl>
          </a:graphicData>
        </a:graphic>
      </p:graphicFrame>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The set is the headline. The rank inside the set is not.</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The picture</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The five red bubbles stay in the upper-right region</a:t>
            </a:r>
          </a:p>
        </p:txBody>
      </p:sp>
      <p:pic>
        <p:nvPicPr>
          <p:cNvPr descr="../../remittance-resilience/generated/charts/remittance-fragility-scatter.png" id="0" name="Picture 1"/>
          <p:cNvPicPr>
            <a:picLocks noGrp="1" noChangeAspect="1"/>
          </p:cNvPicPr>
          <p:nvPr/>
        </p:nvPicPr>
        <p:blipFill>
          <a:blip r:embed="rId2"/>
          <a:stretch>
            <a:fillRect/>
          </a:stretch>
        </p:blipFill>
        <p:spPr bwMode="auto">
          <a:xfrm>
            <a:off x="2400300" y="1193800"/>
            <a:ext cx="4343400" cy="2882900"/>
          </a:xfrm>
          <a:prstGeom prst="rect">
            <a:avLst/>
          </a:prstGeom>
          <a:noFill/>
          <a:ln w="9525">
            <a:noFill/>
            <a:headEnd/>
            <a:tailEnd/>
          </a:ln>
        </p:spPr>
      </p:pic>
      <p:sp>
        <p:nvSpPr>
          <p:cNvPr id="1" name="TextBox 3"/>
          <p:cNvSpPr txBox="1"/>
          <p:nvPr>
            <p:ph idx="1"/>
          </p:nvPr>
        </p:nvSpPr>
        <p:spPr>
          <a:xfrm>
            <a:off x="457200" y="4076700"/>
            <a:ext cx="8229600" cy="508000"/>
          </a:xfrm>
          <a:prstGeom prst="rect">
            <a:avLst/>
          </a:prstGeom>
          <a:noFill/>
        </p:spPr>
        <p:txBody>
          <a:bodyPr/>
          <a:lstStyle/>
          <a:p>
            <a:pPr lvl="0" indent="0" marL="0" algn="ctr">
              <a:buNone/>
            </a:pPr>
            <a:r>
              <a:rPr/>
              <a:t>Dot-plot of 20 rankable ADB DMCs in dependence × cost space. Five red bubbles in the upper-right — KGZ, NPL, TON, VUT, WSM — mark the stable top-five set. Bubble size = RPW corridors observed; small bubbles for Pacific entries and KGZ flag the small-sample caveat. Pre-registered caps (25% dependence, 15% cost) and SDG 10.c.1 reference (3% cost) shown as reference lines.</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Robustness</a:t>
            </a: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The top-five set survives every parameter at ±50%</a:t>
            </a:r>
          </a:p>
        </p:txBody>
      </p:sp>
      <p:sp>
        <p:nvSpPr>
          <p:cNvPr id="3" name="Content Placeholder 2"/>
          <p:cNvSpPr>
            <a:spLocks noGrp="1"/>
          </p:cNvSpPr>
          <p:nvPr>
            <p:ph idx="1"/>
          </p:nvPr>
        </p:nvSpPr>
        <p:spPr/>
        <p:txBody>
          <a:bodyPr/>
          <a:lstStyle/>
          <a:p>
            <a:pPr lvl="0" indent="0" marL="0">
              <a:buNone/>
            </a:pPr>
            <a:r>
              <a:rPr/>
              <a:t>Per </a:t>
            </a:r>
            <a:r>
              <a:rPr>
                <a:latin typeface="Courier"/>
              </a:rPr>
              <a:t>CONSTITUTION.md</a:t>
            </a:r>
            <a:r>
              <a:rPr/>
              <a:t> §6.6, every arbitrary numeric was tested at ±50%:</a:t>
            </a:r>
          </a:p>
          <a:p>
            <a:pPr lvl="0"/>
            <a:r>
              <a:rPr b="1"/>
              <a:t>Dependence cap</a:t>
            </a:r>
            <a:r>
              <a:rPr/>
              <a:t> halved (12.5%) and raised to 37.5%: </a:t>
            </a:r>
            <a:r>
              <a:rPr b="1"/>
              <a:t>top-five unchanged</a:t>
            </a:r>
            <a:r>
              <a:rPr/>
              <a:t>.</a:t>
            </a:r>
          </a:p>
          <a:p>
            <a:pPr lvl="0"/>
            <a:r>
              <a:rPr b="1"/>
              <a:t>Cost cap</a:t>
            </a:r>
            <a:r>
              <a:rPr/>
              <a:t> halved (7.5%) and raised to 22.5%: </a:t>
            </a:r>
            <a:r>
              <a:rPr b="1"/>
              <a:t>top-five unchanged</a:t>
            </a:r>
            <a:r>
              <a:rPr/>
              <a:t>.</a:t>
            </a:r>
          </a:p>
          <a:p>
            <a:pPr lvl="0"/>
            <a:r>
              <a:rPr/>
              <a:t>Both caps moved together: </a:t>
            </a:r>
            <a:r>
              <a:rPr b="1"/>
              <a:t>top-five unchanged</a:t>
            </a:r>
            <a:r>
              <a:rPr/>
              <a:t>.</a:t>
            </a:r>
          </a:p>
          <a:p>
            <a:pPr lvl="0"/>
            <a:r>
              <a:rPr/>
              <a:t>Multiplicative aggregation replaced with additive: </a:t>
            </a:r>
            <a:r>
              <a:rPr b="1"/>
              <a:t>top-five unchanged</a:t>
            </a:r>
            <a:r>
              <a:rPr/>
              <a:t>.</a:t>
            </a:r>
          </a:p>
          <a:p>
            <a:pPr lvl="0" indent="0" marL="0">
              <a:buNone/>
            </a:pPr>
            <a:r>
              <a:rPr/>
              <a:t>Top-10 overlap with baseline: 9 of 10 (under additive) to 10 of 10 (in every cap perturbation).</a:t>
            </a:r>
          </a:p>
          <a:p>
            <a:pPr lvl="0" indent="0" marL="0">
              <a:buNone/>
            </a:pPr>
            <a:r>
              <a:rPr b="1"/>
              <a:t>The pre-registered decision rule — at most one entry change in any single perturbation — is satisfied with margin.</a:t>
            </a:r>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Three patterns inside the set</a:t>
            </a:r>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Three different corridor stories</a:t>
            </a:r>
          </a:p>
        </p:txBody>
      </p:sp>
      <p:sp>
        <p:nvSpPr>
          <p:cNvPr id="3" name="Content Placeholder 2"/>
          <p:cNvSpPr>
            <a:spLocks noGrp="1"/>
          </p:cNvSpPr>
          <p:nvPr>
            <p:ph idx="1"/>
          </p:nvPr>
        </p:nvSpPr>
        <p:spPr/>
        <p:txBody>
          <a:bodyPr/>
          <a:lstStyle/>
          <a:p>
            <a:pPr lvl="0"/>
            <a:r>
              <a:rPr b="1"/>
              <a:t>Pacific small islands (TON, VUT, WSM).</a:t>
            </a:r>
            <a:r>
              <a:rPr/>
              <a:t> High macro dependence, high published inbound cost. Each is observed at </a:t>
            </a:r>
            <a:r>
              <a:rPr b="1"/>
              <a:t>two corridors only</a:t>
            </a:r>
            <a:r>
              <a:rPr/>
              <a:t> in Q1 2025 — small-sample caveat.</a:t>
            </a:r>
          </a:p>
          <a:p>
            <a:pPr lvl="0"/>
            <a:r>
              <a:rPr b="1"/>
              <a:t>Central Asia, Russia-corridor (KGZ).</a:t>
            </a:r>
            <a:r>
              <a:rPr/>
              <a:t> Headline mean cost (10.5%) is dragged up by non-Russia corridors that account for a small share of actual flow. Observed at </a:t>
            </a:r>
            <a:r>
              <a:rPr b="1"/>
              <a:t>one corridor</a:t>
            </a:r>
            <a:r>
              <a:rPr/>
              <a:t>. Volume-weighted cost would be more appropriate; the data is not in RPW.</a:t>
            </a:r>
          </a:p>
          <a:p>
            <a:pPr lvl="0"/>
            <a:r>
              <a:rPr b="1"/>
              <a:t>South Asia, GCC-corridor (NPL).</a:t>
            </a:r>
            <a:r>
              <a:rPr/>
              <a:t> GCC corridors (Saudi Arabia, UAE, Qatar) dominate inbound flow at moderate cost. Higher-cost Malaysia and Korea corridors pull the destination mean up. </a:t>
            </a:r>
            <a:r>
              <a:rPr b="1"/>
              <a:t>Eight corridors observed</a:t>
            </a:r>
            <a:r>
              <a:rPr/>
              <a:t> — the only top-five entry with a well-sampled mean.</a:t>
            </a:r>
          </a:p>
        </p:txBody>
      </p:sp>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Why this matters for project preparation</a:t>
            </a:r>
          </a:p>
        </p:txBody>
      </p:sp>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 triage instrument, not a country rating</a:t>
            </a:r>
          </a:p>
        </p:txBody>
      </p:sp>
      <p:sp>
        <p:nvSpPr>
          <p:cNvPr id="3" name="Content Placeholder 2"/>
          <p:cNvSpPr>
            <a:spLocks noGrp="1"/>
          </p:cNvSpPr>
          <p:nvPr>
            <p:ph idx="1"/>
          </p:nvPr>
        </p:nvSpPr>
        <p:spPr/>
        <p:txBody>
          <a:bodyPr/>
          <a:lstStyle/>
          <a:p>
            <a:pPr lvl="0" indent="0" marL="0">
              <a:buNone/>
            </a:pPr>
            <a:r>
              <a:rPr/>
              <a:t>The joint screen is a defensible </a:t>
            </a:r>
            <a:r>
              <a:rPr b="1"/>
              <a:t>triage tool</a:t>
            </a:r>
            <a:r>
              <a:rPr/>
              <a:t>: it tells a project pipeline which economies deserve deeper corridor audits first.</a:t>
            </a:r>
          </a:p>
          <a:p>
            <a:pPr lvl="0" indent="0" marL="0">
              <a:buNone/>
            </a:pPr>
            <a:r>
              <a:rPr/>
              <a:t>It does </a:t>
            </a:r>
            <a:r>
              <a:rPr b="1"/>
              <a:t>not</a:t>
            </a:r>
            <a:r>
              <a:rPr/>
              <a:t> tell a planner:</a:t>
            </a:r>
          </a:p>
          <a:p>
            <a:pPr lvl="0"/>
            <a:r>
              <a:rPr/>
              <a:t>What the household-level cost incidence is (LSMS / DHS microdata needed).</a:t>
            </a:r>
          </a:p>
          <a:p>
            <a:pPr lvl="0"/>
            <a:r>
              <a:rPr/>
              <a:t>Whether informal corridors (hawala / hundi) substitute for the formal ones RPW observes.</a:t>
            </a:r>
          </a:p>
          <a:p>
            <a:pPr lvl="0"/>
            <a:r>
              <a:rPr/>
              <a:t>Whether volume-weighted corridor cost would re-order the set (central-bank flows or IMF DOTS needed).</a:t>
            </a:r>
          </a:p>
          <a:p>
            <a:pPr lvl="0" indent="0" marL="0">
              <a:buNone/>
            </a:pPr>
            <a:r>
              <a:rPr/>
              <a:t>The set-stability finding is robust; what comes next is harder data.</a:t>
            </a:r>
          </a:p>
        </p:txBody>
      </p:sp>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Honest limits</a:t>
            </a:r>
          </a:p>
        </p:txBody>
      </p:sp>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What this deck does NOT claim</a:t>
            </a:r>
          </a:p>
        </p:txBody>
      </p:sp>
      <p:sp>
        <p:nvSpPr>
          <p:cNvPr id="3" name="Content Placeholder 2"/>
          <p:cNvSpPr>
            <a:spLocks noGrp="1"/>
          </p:cNvSpPr>
          <p:nvPr>
            <p:ph idx="1"/>
          </p:nvPr>
        </p:nvSpPr>
        <p:spPr/>
        <p:txBody>
          <a:bodyPr/>
          <a:lstStyle/>
          <a:p>
            <a:pPr lvl="0"/>
            <a:r>
              <a:rPr/>
              <a:t>It does </a:t>
            </a:r>
            <a:r>
              <a:rPr b="1"/>
              <a:t>not</a:t>
            </a:r>
            <a:r>
              <a:rPr/>
              <a:t> measure resilience. The program name is a legacy; the screen measures </a:t>
            </a:r>
            <a:r>
              <a:rPr i="1"/>
              <a:t>exposure</a:t>
            </a:r>
            <a:r>
              <a:rPr/>
              <a:t> to corridor-cost stress combined with macro dependence. Resilience proper requires a different program.</a:t>
            </a:r>
          </a:p>
          <a:p>
            <a:pPr lvl="0"/>
            <a:r>
              <a:rPr/>
              <a:t>It does </a:t>
            </a:r>
            <a:r>
              <a:rPr b="1"/>
              <a:t>not</a:t>
            </a:r>
            <a:r>
              <a:rPr/>
              <a:t> measure household exposure. WDI is country-level.</a:t>
            </a:r>
          </a:p>
          <a:p>
            <a:pPr lvl="0"/>
            <a:r>
              <a:rPr/>
              <a:t>It does </a:t>
            </a:r>
            <a:r>
              <a:rPr b="1"/>
              <a:t>not</a:t>
            </a:r>
            <a:r>
              <a:rPr/>
              <a:t> produce a country-quality ranking. Composite indices are triage instruments only per </a:t>
            </a:r>
            <a:r>
              <a:rPr>
                <a:latin typeface="Courier"/>
              </a:rPr>
              <a:t>CONSTITUTION.md</a:t>
            </a:r>
            <a:r>
              <a:rPr/>
              <a:t> §6.4.</a:t>
            </a:r>
          </a:p>
          <a:p>
            <a:pPr lvl="0"/>
            <a:r>
              <a:rPr b="1"/>
              <a:t>Four of five top-set members rest on small RPW corridor samples (1–2 corridors).</a:t>
            </a:r>
            <a:r>
              <a:rPr/>
              <a:t> Only Nepal has more than two corridors observed.</a:t>
            </a:r>
          </a:p>
          <a:p>
            <a:pPr lvl="0"/>
            <a:r>
              <a:rPr b="1"/>
              <a:t>Myanmar’s exceptional 28.16% cost</a:t>
            </a:r>
            <a:r>
              <a:rPr/>
              <a:t> reflects post-2021 sanctions / FX friction and is excluded from the headline cluster.</a:t>
            </a:r>
          </a:p>
          <a:p>
            <a:pPr lvl="0"/>
            <a:r>
              <a:rPr/>
              <a:t>It is </a:t>
            </a:r>
            <a:r>
              <a:rPr b="1"/>
              <a:t>not</a:t>
            </a:r>
            <a:r>
              <a:rPr/>
              <a:t> human-final. Under §18, this artifact is AI-attested.</a:t>
            </a:r>
          </a:p>
        </p:txBody>
      </p:sp>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Reproducibility</a:t>
            </a:r>
          </a:p>
        </p:txBody>
      </p:sp>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Every number traces to a committed script</a:t>
            </a:r>
          </a:p>
        </p:txBody>
      </p:sp>
      <p:sp>
        <p:nvSpPr>
          <p:cNvPr id="3" name="Content Placeholder 2"/>
          <p:cNvSpPr>
            <a:spLocks noGrp="1"/>
          </p:cNvSpPr>
          <p:nvPr>
            <p:ph idx="1"/>
          </p:nvPr>
        </p:nvSpPr>
        <p:spPr/>
        <p:txBody>
          <a:bodyPr/>
          <a:lstStyle/>
          <a:p>
            <a:pPr lvl="0"/>
            <a:r>
              <a:rPr b="1"/>
              <a:t>Working paper:</a:t>
            </a:r>
            <a:r>
              <a:rPr/>
              <a:t> </a:t>
            </a:r>
            <a:r>
              <a:rPr>
                <a:latin typeface="Courier"/>
              </a:rPr>
              <a:t>articles/remittance-corridors-vulnerability-cluster.md</a:t>
            </a:r>
          </a:p>
          <a:p>
            <a:pPr lvl="0"/>
            <a:r>
              <a:rPr b="1"/>
              <a:t>Brief:</a:t>
            </a:r>
            <a:r>
              <a:rPr/>
              <a:t> </a:t>
            </a:r>
            <a:r>
              <a:rPr>
                <a:latin typeface="Courier"/>
              </a:rPr>
              <a:t>articles/_brief/remittance-resilience.md</a:t>
            </a:r>
          </a:p>
          <a:p>
            <a:pPr lvl="0"/>
            <a:r>
              <a:rPr b="1"/>
              <a:t>Blog:</a:t>
            </a:r>
            <a:r>
              <a:rPr/>
              <a:t> </a:t>
            </a:r>
            <a:r>
              <a:rPr>
                <a:latin typeface="Courier"/>
              </a:rPr>
              <a:t>articles/_blog/remittance-resilience.md</a:t>
            </a:r>
          </a:p>
          <a:p>
            <a:pPr lvl="0"/>
            <a:r>
              <a:rPr b="1"/>
              <a:t>Pipeline:</a:t>
            </a:r>
            <a:r>
              <a:rPr/>
              <a:t> </a:t>
            </a:r>
            <a:r>
              <a:rPr>
                <a:latin typeface="Courier"/>
              </a:rPr>
              <a:t>remittance-resilience/scripts/process-remittance.py</a:t>
            </a:r>
          </a:p>
          <a:p>
            <a:pPr lvl="0"/>
            <a:r>
              <a:rPr b="1"/>
              <a:t>Sensitivity:</a:t>
            </a:r>
            <a:r>
              <a:rPr/>
              <a:t> </a:t>
            </a:r>
            <a:r>
              <a:rPr>
                <a:latin typeface="Courier"/>
              </a:rPr>
              <a:t>remittance-resilience/sensitivity.md</a:t>
            </a:r>
          </a:p>
          <a:p>
            <a:pPr lvl="0"/>
            <a:r>
              <a:rPr b="1"/>
              <a:t>Limitations:</a:t>
            </a:r>
            <a:r>
              <a:rPr/>
              <a:t> </a:t>
            </a:r>
            <a:r>
              <a:rPr>
                <a:latin typeface="Courier"/>
              </a:rPr>
              <a:t>remittance-resilience/limitations.md</a:t>
            </a:r>
          </a:p>
          <a:p>
            <a:pPr lvl="0"/>
            <a:r>
              <a:rPr b="1"/>
              <a:t>Chart:</a:t>
            </a:r>
            <a:r>
              <a:rPr/>
              <a:t> rendered by </a:t>
            </a:r>
            <a:r>
              <a:rPr>
                <a:latin typeface="Courier"/>
              </a:rPr>
              <a:t>remittance-resilience/scripts/build-fragility-chart.py</a:t>
            </a:r>
            <a:r>
              <a:rPr/>
              <a:t> from </a:t>
            </a:r>
            <a:r>
              <a:rPr>
                <a:latin typeface="Courier"/>
              </a:rPr>
              <a:t>generated/remittance-resilience-adb-panel.csv</a:t>
            </a:r>
            <a:r>
              <a:rPr/>
              <a:t>.</a:t>
            </a:r>
          </a:p>
        </p:txBody>
      </p:sp>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Attestation chain</a:t>
            </a:r>
          </a:p>
        </p:txBody>
      </p:sp>
      <p:sp>
        <p:nvSpPr>
          <p:cNvPr id="3" name="Content Placeholder 2"/>
          <p:cNvSpPr>
            <a:spLocks noGrp="1"/>
          </p:cNvSpPr>
          <p:nvPr>
            <p:ph idx="1"/>
          </p:nvPr>
        </p:nvSpPr>
        <p:spPr/>
        <p:txBody>
          <a:bodyPr/>
          <a:lstStyle/>
          <a:p>
            <a:pPr lvl="0" indent="0" marL="0">
              <a:buNone/>
            </a:pPr>
            <a:r>
              <a:rPr/>
              <a:t>This deck is </a:t>
            </a:r>
            <a:r>
              <a:rPr>
                <a:latin typeface="Courier"/>
              </a:rPr>
              <a:t>attestation_chain: ai-first</a:t>
            </a:r>
            <a:r>
              <a:rPr/>
              <a:t> under </a:t>
            </a:r>
            <a:r>
              <a:rPr>
                <a:latin typeface="Courier"/>
              </a:rPr>
              <a:t>CONSTITUTION.md</a:t>
            </a:r>
            <a:r>
              <a:rPr/>
              <a:t> §18.</a:t>
            </a:r>
          </a:p>
          <a:p>
            <a:pPr lvl="0" indent="0" marL="0">
              <a:buNone/>
            </a:pPr>
            <a:r>
              <a:rPr/>
              <a:t>Path to human-final:</a:t>
            </a:r>
          </a:p>
          <a:p>
            <a:pPr lvl="0" indent="-342900" marL="342900">
              <a:buAutoNum type="arabicPeriod"/>
            </a:pPr>
            <a:r>
              <a:rPr/>
              <a:t>Owner adds volume-weighted corridor costs (central-bank, IMF, or corridor-flow data) and re-runs the screen.</a:t>
            </a:r>
          </a:p>
          <a:p>
            <a:pPr lvl="0" indent="-342900" marL="342900">
              <a:buAutoNum type="arabicPeriod"/>
            </a:pPr>
            <a:r>
              <a:rPr/>
              <a:t>Owner adds household receipt concentration from LSMS, DHS, or national surveys.</a:t>
            </a:r>
          </a:p>
          <a:p>
            <a:pPr lvl="0" indent="-342900" marL="342900">
              <a:buAutoNum type="arabicPeriod"/>
            </a:pPr>
            <a:r>
              <a:rPr/>
              <a:t>Owner contacts at least one external reviewer (KNOMAD, World Bank Payment Systems Development Group, IZA migration cluster, Pacific Community SDD, Nepal Rastra Bank, OSCE Academy in Bishkek) and replaces the AI-synthesized red-team review with actual feedback.</a:t>
            </a:r>
          </a:p>
          <a:p>
            <a:pPr lvl="0" indent="-342900" marL="342900">
              <a:buAutoNum type="arabicPeriod"/>
            </a:pPr>
            <a:r>
              <a:rPr/>
              <a:t>Owner-designated internal review.</a:t>
            </a:r>
          </a:p>
          <a:p>
            <a:pPr lvl="0" indent="-342900" marL="342900">
              <a:buAutoNum type="arabicPeriod"/>
            </a:pPr>
            <a:r>
              <a:rPr/>
              <a:t>Owner-signed commit promotes the artifact to </a:t>
            </a:r>
            <a:r>
              <a:rPr>
                <a:latin typeface="Courier"/>
              </a:rPr>
              <a:t>human-final</a:t>
            </a:r>
            <a:r>
              <a:rPr/>
              <a:t>.</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Five DMCs persistently cluster as remittance-corridor-stress-exposed</dc:title>
  <dc:creator>Raymond Adofina · Asian Development Bank</dc:creator>
  <cp:keywords/>
  <dcterms:created xsi:type="dcterms:W3CDTF">2026-05-12T01:43:28Z</dcterms:created>
  <dcterms:modified xsi:type="dcterms:W3CDTF">2026-05-12T01:43:28Z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ttestation_chain">
    <vt:lpwstr>ai-first</vt:lpwstr>
  </property>
  <property fmtid="{D5CDD505-2E9C-101B-9397-08002B2CF9AE}" pid="3" name="authors">
    <vt:lpwstr/>
  </property>
  <property fmtid="{D5CDD505-2E9C-101B-9397-08002B2CF9AE}" pid="4" name="banned_words_check">
    <vt:lpwstr>passing</vt:lpwstr>
  </property>
  <property fmtid="{D5CDD505-2E9C-101B-9397-08002B2CF9AE}" pid="5" name="biblio-config">
    <vt:lpwstr>True</vt:lpwstr>
  </property>
  <property fmtid="{D5CDD505-2E9C-101B-9397-08002B2CF9AE}" pid="6" name="by-author">
    <vt:lpwstr/>
  </property>
  <property fmtid="{D5CDD505-2E9C-101B-9397-08002B2CF9AE}" pid="7" name="constitution_ref">
    <vt:lpwstr>§18 ACTIVE 2026-04-25</vt:lpwstr>
  </property>
  <property fmtid="{D5CDD505-2E9C-101B-9397-08002B2CF9AE}" pid="8" name="date">
    <vt:lpwstr>2026-05-12</vt:lpwstr>
  </property>
  <property fmtid="{D5CDD505-2E9C-101B-9397-08002B2CF9AE}" pid="9" name="dmc_framing_check">
    <vt:lpwstr>passing</vt:lpwstr>
  </property>
  <property fmtid="{D5CDD505-2E9C-101B-9397-08002B2CF9AE}" pid="10" name="engines">
    <vt:lpwstr/>
  </property>
  <property fmtid="{D5CDD505-2E9C-101B-9397-08002B2CF9AE}" pid="11" name="geographies">
    <vt:lpwstr/>
  </property>
  <property fmtid="{D5CDD505-2E9C-101B-9397-08002B2CF9AE}" pid="12" name="header-includes">
    <vt:lpwstr/>
  </property>
  <property fmtid="{D5CDD505-2E9C-101B-9397-08002B2CF9AE}" pid="13" name="include-after">
    <vt:lpwstr/>
  </property>
  <property fmtid="{D5CDD505-2E9C-101B-9397-08002B2CF9AE}" pid="14" name="include-before">
    <vt:lpwstr/>
  </property>
  <property fmtid="{D5CDD505-2E9C-101B-9397-08002B2CF9AE}" pid="15" name="kind">
    <vt:lpwstr>deck</vt:lpwstr>
  </property>
  <property fmtid="{D5CDD505-2E9C-101B-9397-08002B2CF9AE}" pid="16" name="labels">
    <vt:lpwstr/>
  </property>
  <property fmtid="{D5CDD505-2E9C-101B-9397-08002B2CF9AE}" pid="17" name="license">
    <vt:lpwstr/>
  </property>
  <property fmtid="{D5CDD505-2E9C-101B-9397-08002B2CF9AE}" pid="18" name="maturity">
    <vt:lpwstr>PP</vt:lpwstr>
  </property>
  <property fmtid="{D5CDD505-2E9C-101B-9397-08002B2CF9AE}" pid="19" name="program">
    <vt:lpwstr>remittance-resilience</vt:lpwstr>
  </property>
  <property fmtid="{D5CDD505-2E9C-101B-9397-08002B2CF9AE}" pid="20" name="slug">
    <vt:lpwstr>remittance-resilience-deck</vt:lpwstr>
  </property>
  <property fmtid="{D5CDD505-2E9C-101B-9397-08002B2CF9AE}" pid="21" name="status">
    <vt:lpwstr>draft</vt:lpwstr>
  </property>
  <property fmtid="{D5CDD505-2E9C-101B-9397-08002B2CF9AE}" pid="22" name="subtitle">
    <vt:lpwstr>A cap-stable, aggregation-stable top-five set across the ±50% sensitivity suite — ADB DMCs, AI-first under §18</vt:lpwstr>
  </property>
  <property fmtid="{D5CDD505-2E9C-101B-9397-08002B2CF9AE}" pid="23" name="tier">
    <vt:lpwstr>slides</vt:lpwstr>
  </property>
  <property fmtid="{D5CDD505-2E9C-101B-9397-08002B2CF9AE}" pid="24" name="toc-title">
    <vt:lpwstr>Table of contents</vt:lpwstr>
  </property>
  <property fmtid="{D5CDD505-2E9C-101B-9397-08002B2CF9AE}" pid="25" name="topics">
    <vt:lpwstr/>
  </property>
</Properties>
</file>