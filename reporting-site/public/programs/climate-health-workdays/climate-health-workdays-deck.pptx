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stable proxy can still measure the wrong thing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Climate-health construct validation across 34 economies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old result passed the wrong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inherited proxy multiplied agriculture plus half of industry employment by a national PM2.5 pressure transformation.</a:t>
            </a:r>
          </a:p>
          <a:p>
            <a:pPr lvl="0"/>
            <a:r>
              <a:rPr/>
              <a:t>Its leading set survived ±50% parameter changes.</a:t>
            </a:r>
          </a:p>
          <a:p>
            <a:pPr lvl="0"/>
            <a:r>
              <a:rPr/>
              <a:t>It contained no temperature, humidity, workload, or labor outcome.</a:t>
            </a:r>
          </a:p>
          <a:p>
            <a:pPr lvl="0"/>
            <a:r>
              <a:rPr/>
              <a:t>Internal stability did not establish heat-work-loss validity.</a:t>
            </a:r>
          </a:p>
          <a:p>
            <a:pPr lvl="0" indent="0" marL="0">
              <a:buNone/>
            </a:pPr>
            <a:r>
              <a:rPr b="1"/>
              <a:t>Question: does the proxy recover a documented direct heat-labor construct?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aligned 2020 top threes have zero overlap</a:t>
            </a:r>
          </a:p>
        </p:txBody>
      </p:sp>
      <p:pic>
        <p:nvPicPr>
          <p:cNvPr descr="../../climate-health-workdays/generated/charts/climate-construct-rank-disagree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499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disagreement persists across all 21 tests</a:t>
            </a:r>
          </a:p>
        </p:txBody>
      </p:sp>
      <p:pic>
        <p:nvPicPr>
          <p:cNvPr descr="../../climate-health-workdays/generated/charts/climate-construct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13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direct heat rate identifies a different profile</a:t>
            </a:r>
          </a:p>
        </p:txBody>
      </p:sp>
      <p:pic>
        <p:nvPicPr>
          <p:cNvPr descr="../../climate-health-workdays/generated/charts/climate-heat-loss-profile-20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16100" y="1193800"/>
            <a:ext cx="5524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Rate and aggregate scale answer different questions</a:t>
            </a:r>
          </a:p>
        </p:txBody>
      </p:sp>
      <p:pic>
        <p:nvPicPr>
          <p:cNvPr descr="../../climate-health-workdays/generated/charts/climate-heat-loss-rate-vs-sca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35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Sector workload is part of the direct construct</a:t>
            </a:r>
          </a:p>
        </p:txBody>
      </p:sp>
      <p:pic>
        <p:nvPicPr>
          <p:cNvPr descr="../../climate-health-workdays/generated/charts/climate-heat-loss-sector-compo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193800"/>
            <a:ext cx="5359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old worker denominator was also overstated</a:t>
            </a:r>
          </a:p>
        </p:txBody>
      </p:sp>
      <p:pic>
        <p:nvPicPr>
          <p:cNvPr descr="../../climate-health-workdays/generated/charts/climate-worker-denominator-repai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7800" y="1193800"/>
            <a:ext cx="6248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outcome-validation gap remains open</a:t>
            </a:r>
          </a:p>
        </p:txBody>
      </p:sp>
      <p:pic>
        <p:nvPicPr>
          <p:cNvPr descr="../../climate-health-workdays/generated/charts/climate-source-cover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44600" y="1193800"/>
            <a:ext cx="664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Replace the ranking with four research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Test external construct validity, not only internal parameter stability.</a:t>
            </a:r>
          </a:p>
          <a:p>
            <a:pPr lvl="0" indent="-342900" marL="342900">
              <a:buAutoNum type="arabicPeriod"/>
            </a:pPr>
            <a:r>
              <a:rPr/>
              <a:t>Keep heat and PM2.5 as separate mechanisms unless a joint design identifies both.</a:t>
            </a:r>
          </a:p>
          <a:p>
            <a:pPr lvl="0" indent="-342900" marL="342900">
              <a:buAutoNum type="arabicPeriod"/>
            </a:pPr>
            <a:r>
              <a:rPr/>
              <a:t>Use an employed-population denominator for worker counts.</a:t>
            </a:r>
          </a:p>
          <a:p>
            <a:pPr lvl="0" indent="-342900" marL="342900">
              <a:buAutoNum type="arabicPeriod"/>
            </a:pPr>
            <a:r>
              <a:rPr/>
              <a:t>Do not report modelled potential capacity loss as observed absence.</a:t>
            </a:r>
          </a:p>
          <a:p>
            <a:pPr lvl="0" indent="0" marL="0">
              <a:buNone/>
            </a:pPr>
            <a:r>
              <a:rPr b="1"/>
              <a:t>Next object:</a:t>
            </a:r>
            <a:r>
              <a:rPr/>
              <a:t> observed hours, absence, output, or labor supply aligned with workplace or subnational exposure.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stable proxy can still measure the wrong thing</dc:title>
  <dc:creator>Raymond Adofina · Asian Development Bank</dc:creator>
  <cp:keywords/>
  <dcterms:created xsi:type="dcterms:W3CDTF">2026-07-18T11:21:28Z</dcterms:created>
  <dcterms:modified xsi:type="dcterms:W3CDTF">2026-07-18T11:21:28Z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climate-health-workdays</vt:lpwstr>
  </property>
  <property fmtid="{D5CDD505-2E9C-101B-9397-08002B2CF9AE}" pid="20" name="slug">
    <vt:lpwstr>climate-health-workdays-deck</vt:lpwstr>
  </property>
  <property fmtid="{D5CDD505-2E9C-101B-9397-08002B2CF9AE}" pid="21" name="status">
    <vt:lpwstr>draft</vt:lpwstr>
  </property>
  <property fmtid="{D5CDD505-2E9C-101B-9397-08002B2CF9AE}" pid="22" name="subtitle">
    <vt:lpwstr>Climate-health construct validation across 34 economies —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