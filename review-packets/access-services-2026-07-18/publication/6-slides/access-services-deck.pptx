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Before ranking access, check the facility map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Official registries reshape an eight-economy OSM screen — AI-first under §18</a:t>
            </a:r>
            <a:br/>
            <a:br/>
            <a:r>
              <a:rPr/>
              <a:t>Raymond Adofina · Asian Development Bank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2026-07-18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question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Does an open facility map support a service-access rank?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inherited pilot divides ADM1 population by OSM service points across eight ADB developing member economies.</a:t>
            </a:r>
          </a:p>
          <a:p>
            <a:pPr lvl="0"/>
            <a:r>
              <a:rPr/>
              <a:t>Public and reproducible.</a:t>
            </a:r>
          </a:p>
          <a:p>
            <a:pPr lvl="0"/>
            <a:r>
              <a:rPr/>
              <a:t>Useful for discovering possible data gaps.</a:t>
            </a:r>
          </a:p>
          <a:p>
            <a:pPr lvl="0"/>
            <a:r>
              <a:rPr/>
              <a:t>But the map denominator may vary with mapping effort.</a:t>
            </a:r>
          </a:p>
          <a:p>
            <a:pPr lvl="0" indent="0" marL="0">
              <a:buNone/>
            </a:pPr>
            <a:r>
              <a:rPr b="1"/>
              <a:t>Test the denominator before extending the access story.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attestation_chain: ai-first</a:t>
            </a:r>
            <a:r>
              <a:rPr/>
              <a:t>; current maturity PP.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main finding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Official registry counts reorder 16 of 17 Philippine ranks</a:t>
            </a:r>
          </a:p>
        </p:txBody>
      </p:sp>
      <p:pic>
        <p:nvPicPr>
          <p:cNvPr descr="../../access-services/generated/charts/access-phl-rank-shif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40000" y="1193800"/>
            <a:ext cx="4076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Diverging bars show Philippine rank movement after official clinical registry counts replace OSM health-point counts.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the rank changes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capture is associated with apparent facility load</a:t>
            </a:r>
          </a:p>
        </p:txBody>
      </p:sp>
      <p:pic>
        <p:nvPicPr>
          <p:cNvPr descr="../../access-services/generated/charts/access-phl-completeness-sign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59000" y="1193800"/>
            <a:ext cx="4826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Scatterplot of Philippine OSM clinical capture and people per OSM health point.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OSM capture: </a:t>
            </a:r>
            <a:r>
              <a:rPr b="1"/>
              <a:t>6.45% in ARMM to 63.53% in NCR</a:t>
            </a:r>
            <a:r>
              <a:rPr/>
              <a:t>.</a:t>
            </a:r>
          </a:p>
          <a:p>
            <a:pPr lvl="0"/>
            <a:r>
              <a:rPr/>
              <a:t>Spearman rho with apparent OSM load: </a:t>
            </a:r>
            <a:r>
              <a:rPr b="1"/>
              <a:t>-0.81</a:t>
            </a:r>
            <a:r>
              <a:rPr/>
              <a:t>.</a:t>
            </a:r>
          </a:p>
          <a:p>
            <a:pPr lvl="0"/>
            <a:r>
              <a:rPr/>
              <a:t>Descriptive source signal—not causal evidence.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eight-economy boundary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Only two pilot economies have comparable registry corrections</a:t>
            </a:r>
          </a:p>
        </p:txBody>
      </p:sp>
      <p:pic>
        <p:nvPicPr>
          <p:cNvPr descr="../../access-services/generated/charts/access-cross-economy-registry-readine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55800" y="1193800"/>
            <a:ext cx="5219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Eight-economy readiness wall shows registry-adjusted loads only for the Philippines and Bangladesh.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Missing correction means </a:t>
            </a:r>
            <a:r>
              <a:rPr b="1"/>
              <a:t>no comparable join</a:t>
            </a:r>
            <a:r>
              <a:rPr/>
              <a:t>, not zero facilities.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second source is not automatically validation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Cambodia exposes source and vintage disagreement</a:t>
            </a:r>
          </a:p>
        </p:txBody>
      </p:sp>
      <p:pic>
        <p:nvPicPr>
          <p:cNvPr descr="../../access-services/generated/charts/access-cambodia-source-disagreeme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20900" y="1193800"/>
            <a:ext cx="4889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Paired bars compare 2026 OSM loads with a 2010 Cambodia public-facility inventory.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21 of 24 joined province ranks change.</a:t>
            </a:r>
          </a:p>
          <a:p>
            <a:pPr lvl="0"/>
            <a:r>
              <a:rPr/>
              <a:t>2010 public providers versus 2026 OSM and broader tags.</a:t>
            </a:r>
          </a:p>
          <a:p>
            <a:pPr lvl="0"/>
            <a:r>
              <a:rPr/>
              <a:t>Report disagreement, not current completeness.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the screen can do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it as a source-validation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panel can prioritize:</a:t>
            </a:r>
          </a:p>
          <a:p>
            <a:pPr lvl="0"/>
            <a:r>
              <a:rPr/>
              <a:t>facility-master-list discovery;</a:t>
            </a:r>
          </a:p>
          <a:p>
            <a:pPr lvl="0"/>
            <a:r>
              <a:rPr/>
              <a:t>taxonomy and provider-scope crosswalks;</a:t>
            </a:r>
          </a:p>
          <a:p>
            <a:pPr lvl="0"/>
            <a:r>
              <a:rPr/>
              <a:t>boundary and identifier repair; and</a:t>
            </a:r>
          </a:p>
          <a:p>
            <a:pPr lvl="0"/>
            <a:r>
              <a:rPr/>
              <a:t>mapping review where capture is thin.</a:t>
            </a:r>
          </a:p>
          <a:p>
            <a:pPr lvl="0" indent="0" marL="0">
              <a:buNone/>
            </a:pPr>
            <a:r>
              <a:rPr/>
              <a:t>It cannot rank travel time, capacity, quality, utilization, affordability, household access, welfare, or DMC performance.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next evidence object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access from validated inputs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Current, geocoded, provider-scoped facility master lists.</a:t>
            </a:r>
          </a:p>
          <a:p>
            <a:pPr lvl="0" indent="-342900" marL="342900">
              <a:buAutoNum type="arabicPeriod"/>
            </a:pPr>
            <a:r>
              <a:rPr/>
              <a:t>Stable facility identifiers and boundary crosswalks.</a:t>
            </a:r>
          </a:p>
          <a:p>
            <a:pPr lvl="0" indent="-342900" marL="342900">
              <a:buAutoNum type="arabicPeriod"/>
            </a:pPr>
            <a:r>
              <a:rPr/>
              <a:t>Routable networks, terrain, barriers, and transport modes.</a:t>
            </a:r>
          </a:p>
          <a:p>
            <a:pPr lvl="0" indent="-342900" marL="342900">
              <a:buAutoNum type="arabicPeriod"/>
            </a:pPr>
            <a:r>
              <a:rPr/>
              <a:t>Services, staffing, operating status, and capacity.</a:t>
            </a:r>
          </a:p>
          <a:p>
            <a:pPr lvl="0" indent="-342900" marL="342900">
              <a:buAutoNum type="arabicPeriod"/>
            </a:pPr>
            <a:r>
              <a:rPr/>
              <a:t>Utilization or household evidence with appropriate review.</a:t>
            </a:r>
          </a:p>
          <a:p>
            <a:pPr lvl="0" indent="0" marL="0">
              <a:buNone/>
            </a:pPr>
            <a:r>
              <a:rPr b="1"/>
              <a:t>The old access-ranking headline is retired. The map-observability finding is the result.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Reproducibility and attestation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displayed number traces to committed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Main evidence: </a:t>
            </a:r>
            <a:r>
              <a:rPr>
                <a:latin typeface="Courier"/>
              </a:rPr>
              <a:t>access-osm-completeness-deepening.json</a:t>
            </a:r>
          </a:p>
          <a:p>
            <a:pPr lvl="0"/>
            <a:r>
              <a:rPr/>
              <a:t>Cambodia audit: </a:t>
            </a:r>
            <a:r>
              <a:rPr>
                <a:latin typeface="Courier"/>
              </a:rPr>
              <a:t>access-cambodia-health-facility-source-audit.json</a:t>
            </a:r>
          </a:p>
          <a:p>
            <a:pPr lvl="0"/>
            <a:r>
              <a:rPr/>
              <a:t>Figure dossier: </a:t>
            </a:r>
            <a:r>
              <a:rPr>
                <a:latin typeface="Courier"/>
              </a:rPr>
              <a:t>access-services/scripts/build-figure-dossier.py</a:t>
            </a:r>
          </a:p>
          <a:p>
            <a:pPr lvl="0"/>
            <a:r>
              <a:rPr/>
              <a:t>Method and sensitivity: </a:t>
            </a:r>
            <a:r>
              <a:rPr>
                <a:latin typeface="Courier"/>
              </a:rPr>
              <a:t>pre-registration.md</a:t>
            </a:r>
            <a:r>
              <a:rPr/>
              <a:t>, </a:t>
            </a:r>
            <a:r>
              <a:rPr>
                <a:latin typeface="Courier"/>
              </a:rPr>
              <a:t>sensitivity.md</a:t>
            </a:r>
          </a:p>
          <a:p>
            <a:pPr lvl="0"/>
            <a:r>
              <a:rPr/>
              <a:t>Limits and upgrade: </a:t>
            </a:r>
            <a:r>
              <a:rPr>
                <a:latin typeface="Courier"/>
              </a:rPr>
              <a:t>limitations.md</a:t>
            </a:r>
            <a:r>
              <a:rPr/>
              <a:t>, </a:t>
            </a:r>
            <a:r>
              <a:rPr>
                <a:latin typeface="Courier"/>
              </a:rPr>
              <a:t>upgrade-gap.md</a:t>
            </a:r>
          </a:p>
          <a:p>
            <a:pPr lvl="0" indent="0" marL="0">
              <a:buNone/>
            </a:pPr>
            <a:r>
              <a:rPr/>
              <a:t>The package is </a:t>
            </a:r>
            <a:r>
              <a:rPr>
                <a:latin typeface="Courier"/>
              </a:rPr>
              <a:t>attestation_chain: ai-first</a:t>
            </a:r>
            <a:r>
              <a:rPr/>
              <a:t> under §18. No individual external reviewer was contacted. Human-final requires owner re-attestation and named domain/country/statistical review.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Before ranking access, check the facility map</dc:title>
  <dc:creator>Raymond Adofina · Asian Development Bank</dc:creator>
  <cp:keywords/>
  <dcterms:created xsi:type="dcterms:W3CDTF">2026-07-18T09:32:33Z</dcterms:created>
  <dcterms:modified xsi:type="dcterms:W3CDTF">2026-07-18T09:32:33Z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estation_chain">
    <vt:lpwstr>ai-first</vt:lpwstr>
  </property>
  <property fmtid="{D5CDD505-2E9C-101B-9397-08002B2CF9AE}" pid="3" name="authors">
    <vt:lpwstr/>
  </property>
  <property fmtid="{D5CDD505-2E9C-101B-9397-08002B2CF9AE}" pid="4" name="banned_words_check">
    <vt:lpwstr>passing</vt:lpwstr>
  </property>
  <property fmtid="{D5CDD505-2E9C-101B-9397-08002B2CF9AE}" pid="5" name="biblio-config">
    <vt:lpwstr>True</vt:lpwstr>
  </property>
  <property fmtid="{D5CDD505-2E9C-101B-9397-08002B2CF9AE}" pid="6" name="by-author">
    <vt:lpwstr/>
  </property>
  <property fmtid="{D5CDD505-2E9C-101B-9397-08002B2CF9AE}" pid="7" name="constitution_ref">
    <vt:lpwstr>§18 ACTIVE 2026-04-25</vt:lpwstr>
  </property>
  <property fmtid="{D5CDD505-2E9C-101B-9397-08002B2CF9AE}" pid="8" name="date">
    <vt:lpwstr>2026-07-18</vt:lpwstr>
  </property>
  <property fmtid="{D5CDD505-2E9C-101B-9397-08002B2CF9AE}" pid="9" name="dmc_framing_check">
    <vt:lpwstr>passing</vt:lpwstr>
  </property>
  <property fmtid="{D5CDD505-2E9C-101B-9397-08002B2CF9AE}" pid="10" name="engines">
    <vt:lpwstr/>
  </property>
  <property fmtid="{D5CDD505-2E9C-101B-9397-08002B2CF9AE}" pid="11" name="geographies">
    <vt:lpwstr/>
  </property>
  <property fmtid="{D5CDD505-2E9C-101B-9397-08002B2CF9AE}" pid="12" name="header-includes">
    <vt:lpwstr/>
  </property>
  <property fmtid="{D5CDD505-2E9C-101B-9397-08002B2CF9AE}" pid="13" name="include-after">
    <vt:lpwstr/>
  </property>
  <property fmtid="{D5CDD505-2E9C-101B-9397-08002B2CF9AE}" pid="14" name="include-before">
    <vt:lpwstr/>
  </property>
  <property fmtid="{D5CDD505-2E9C-101B-9397-08002B2CF9AE}" pid="15" name="kind">
    <vt:lpwstr>deck</vt:lpwstr>
  </property>
  <property fmtid="{D5CDD505-2E9C-101B-9397-08002B2CF9AE}" pid="16" name="labels">
    <vt:lpwstr/>
  </property>
  <property fmtid="{D5CDD505-2E9C-101B-9397-08002B2CF9AE}" pid="17" name="license">
    <vt:lpwstr/>
  </property>
  <property fmtid="{D5CDD505-2E9C-101B-9397-08002B2CF9AE}" pid="18" name="maturity">
    <vt:lpwstr>PP</vt:lpwstr>
  </property>
  <property fmtid="{D5CDD505-2E9C-101B-9397-08002B2CF9AE}" pid="19" name="program">
    <vt:lpwstr>access-services</vt:lpwstr>
  </property>
  <property fmtid="{D5CDD505-2E9C-101B-9397-08002B2CF9AE}" pid="20" name="slug">
    <vt:lpwstr>access-services-deck</vt:lpwstr>
  </property>
  <property fmtid="{D5CDD505-2E9C-101B-9397-08002B2CF9AE}" pid="21" name="status">
    <vt:lpwstr>draft</vt:lpwstr>
  </property>
  <property fmtid="{D5CDD505-2E9C-101B-9397-08002B2CF9AE}" pid="22" name="subtitle">
    <vt:lpwstr>Official registries reshape an eight-economy OSM screen — AI-first under §18</vt:lpwstr>
  </property>
  <property fmtid="{D5CDD505-2E9C-101B-9397-08002B2CF9AE}" pid="23" name="tier">
    <vt:lpwstr>slides</vt:lpwstr>
  </property>
  <property fmtid="{D5CDD505-2E9C-101B-9397-08002B2CF9AE}" pid="24" name="toc-title">
    <vt:lpwstr>Table of contents</vt:lpwstr>
  </property>
  <property fmtid="{D5CDD505-2E9C-101B-9397-08002B2CF9AE}" pid="25" name="topics">
    <vt:lpwstr/>
  </property>
</Properties>
</file>