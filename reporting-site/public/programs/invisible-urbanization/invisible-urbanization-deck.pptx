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urbanization depends on the definition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GHSL–WDI measurement gaps, administrative scale, and classification dynamics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1 · Finding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20.0 percentage points</a:t>
            </a:r>
          </a:p>
          <a:p>
            <a:pPr lvl="0" indent="0" marL="0">
              <a:buNone/>
            </a:pPr>
            <a:r>
              <a:rPr/>
              <a:t>Median absolute GHSL–WDI urban-share gap across 40 complete ADB developing- economy cases, 2020.</a:t>
            </a:r>
          </a:p>
        </p:txBody>
      </p:sp>
      <p:pic>
        <p:nvPicPr>
          <p:cNvPr descr="../../invisible-urbanization/generated/charts/invisible-urbanization-01-definition-gap-her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203200"/>
            <a:ext cx="38354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· Two valid but different constructs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WDI: urban population under national definitions.</a:t>
            </a:r>
          </a:p>
          <a:p>
            <a:pPr lvl="0"/>
            <a:r>
              <a:rPr/>
              <a:t>GHSL: one harmonized grid-based Degree of Urbanisation method.</a:t>
            </a:r>
          </a:p>
          <a:p>
            <a:pPr lvl="0"/>
            <a:r>
              <a:rPr/>
              <a:t>The gap is a construct disagreement, not an error estimate.</a:t>
            </a:r>
          </a:p>
        </p:txBody>
      </p:sp>
      <p:pic>
        <p:nvPicPr>
          <p:cNvPr descr="../../invisible-urbanization/generated/charts/invisible-urbanization-11-method-and-claim-g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927100"/>
            <a:ext cx="51054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· Both directions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GHSL is higher in 33 cases; WDI is higher in seven.</a:t>
            </a:r>
          </a:p>
        </p:txBody>
      </p:sp>
      <p:pic>
        <p:nvPicPr>
          <p:cNvPr descr="../../invisible-urbanization/generated/charts/invisible-urbanization-02-selected-definition-dumbbe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82600"/>
            <a:ext cx="5105400" cy="382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· Persistent difference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median absolute gap stays near 20–26 points across 1975–2020.</a:t>
            </a:r>
          </a:p>
        </p:txBody>
      </p:sp>
      <p:pic>
        <p:nvPicPr>
          <p:cNvPr descr="../../invisible-urbanization/generated/charts/invisible-urbanization-03-definition-gap-over-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98500"/>
            <a:ext cx="5105400" cy="340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· Administrative scale changes the answer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13 economies: 0.6% embedded at level 1, 1.9% at level 2, 2.8% at level 3.</a:t>
            </a:r>
          </a:p>
        </p:txBody>
      </p:sp>
      <p:pic>
        <p:nvPicPr>
          <p:cNvPr descr="../../invisible-urbanization/generated/charts/invisible-urbanization-05-administrative-scale-sensitivit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23900"/>
            <a:ext cx="5105400" cy="3340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· The stock fell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Across the same 34 level-2-covered economies, the embedded share fell from 7.4% in 1975 to 2.0% in 2020.</a:t>
            </a:r>
          </a:p>
        </p:txBody>
      </p:sp>
      <p:pic>
        <p:nvPicPr>
          <p:cNvPr descr="../../invisible-urbanization/generated/charts/invisible-urbanization-06-embedded-share-over-tim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85800"/>
            <a:ext cx="5105400" cy="3416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· But persistent rural units kept growing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2000–2020, units that stayed rural gained 13.9 million urban-cell residents. Rural-to-town/city threshold crossings removed 43.3 million from the embedded category.</a:t>
            </a:r>
          </a:p>
        </p:txBody>
      </p:sp>
      <p:pic>
        <p:nvPicPr>
          <p:cNvPr descr="../../invisible-urbanization/generated/charts/invisible-urbanization-07-transition-waterfal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74700"/>
            <a:ext cx="5105400" cy="323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 · Use and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national definitions for national reporting and GHSL for harmonized comparison. Show both when they diverge.</a:t>
            </a:r>
          </a:p>
          <a:p>
            <a:pPr lvl="0" indent="0" marL="0">
              <a:buNone/>
            </a:pPr>
            <a:r>
              <a:rPr/>
              <a:t>Do not infer legal misclassification, neglect, services, or welfare from the gap alone.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 · Next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One-country join of official classification vintages, historical boundaries, GHSL grids, and one service or fiscal outcome.</a:t>
            </a:r>
          </a:p>
          <a:p>
            <a:pPr lvl="0" indent="0" marL="0">
              <a:buNone/>
            </a:pPr>
            <a:r>
              <a:rPr i="1"/>
              <a:t>AI-first prepared pipeline; not externally reviewed.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When urbanization depends on the definition</dc:title>
  <dc:creator/>
  <cp:keywords/>
  <dcterms:created xsi:type="dcterms:W3CDTF">2026-07-18T22:47:35Z</dcterms:created>
  <dcterms:modified xsi:type="dcterms:W3CDTF">2026-07-18T22:47:35Z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ttestation_chain">
    <vt:lpwstr>ai-first</vt:lpwstr>
  </property>
  <property fmtid="{D5CDD505-2E9C-101B-9397-08002B2CF9AE}" pid="3" name="biblio-config">
    <vt:lpwstr>True</vt:lpwstr>
  </property>
  <property fmtid="{D5CDD505-2E9C-101B-9397-08002B2CF9AE}" pid="4" name="engines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maturity">
    <vt:lpwstr>PP</vt:lpwstr>
  </property>
  <property fmtid="{D5CDD505-2E9C-101B-9397-08002B2CF9AE}" pid="10" name="program">
    <vt:lpwstr>invisible-urbanization</vt:lpwstr>
  </property>
  <property fmtid="{D5CDD505-2E9C-101B-9397-08002B2CF9AE}" pid="11" name="slug">
    <vt:lpwstr>invisible-urbanization-cluster-slides</vt:lpwstr>
  </property>
  <property fmtid="{D5CDD505-2E9C-101B-9397-08002B2CF9AE}" pid="12" name="subtitle">
    <vt:lpwstr>GHSL–WDI measurement gaps, administrative scale, and classification dynamics</vt:lpwstr>
  </property>
  <property fmtid="{D5CDD505-2E9C-101B-9397-08002B2CF9AE}" pid="13" name="toc-title">
    <vt:lpwstr>Table of contents</vt:lpwstr>
  </property>
</Properties>
</file>