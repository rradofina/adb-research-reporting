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svg" ContentType="image/svg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2" Type="http://schemas.openxmlformats.org/officeDocument/2006/relationships/viewProps" Target="viewProps.xml" /><Relationship Id="rId11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4" Type="http://schemas.openxmlformats.org/officeDocument/2006/relationships/tableStyles" Target="tableStyles.xml" /><Relationship Id="rId13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.sv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.sv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3.sv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4.sv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5.sv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6.sv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7.sv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A data year has two clocks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Nine slides on domain-aware freshness review in WDI dashboards.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 — Decision 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When a dashboard says a value is old, is the economy behind—or is the whole indicator produced on a slower cycle?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2 — Main finding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At three years, calendar age and indicator-relative lag disagree for </a:t>
            </a:r>
            <a:r>
              <a:rPr b="1"/>
              <a:t>138 of 709 observed cells (19.5%)</a:t>
            </a:r>
            <a:r>
              <a:rPr/>
              <a:t>.</a:t>
            </a:r>
          </a:p>
        </p:txBody>
      </p:sp>
      <p:pic>
        <p:nvPicPr>
          <p:cNvPr descr="../../public-data-freshness/generated/charts/public-data-freshness-04-classification-matrix.sv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797300" y="203200"/>
            <a:ext cx="4635500" cy="4381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3 — One age, two components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>
                <a:latin typeface="Courier"/>
              </a:rPr>
              <a:t>calendar age = production age + relative lag</a:t>
            </a:r>
          </a:p>
          <a:p>
            <a:pPr lvl="0" indent="0" marL="0">
              <a:buNone/>
            </a:pPr>
            <a:r>
              <a:rPr/>
              <a:t>Calendar age remains the policy-use warning. Relative lag triages source follow-up. Neither measures accuracy.</a:t>
            </a:r>
          </a:p>
        </p:txBody>
      </p:sp>
      <p:pic>
        <p:nvPicPr>
          <p:cNvPr descr="../../public-data-freshness/generated/charts/public-data-freshness-05-two-clock-construct.sv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683000" y="203200"/>
            <a:ext cx="4876800" cy="4381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4 — The calendar queue is almost three times larger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absolute review cells: </a:t>
            </a:r>
            <a:r>
              <a:rPr b="1"/>
              <a:t>212</a:t>
            </a:r>
            <a:r>
              <a:rPr/>
              <a:t>;</a:t>
            </a:r>
          </a:p>
          <a:p>
            <a:pPr lvl="0"/>
            <a:r>
              <a:rPr/>
              <a:t>relative review cells: </a:t>
            </a:r>
            <a:r>
              <a:rPr b="1"/>
              <a:t>74</a:t>
            </a:r>
            <a:r>
              <a:rPr/>
              <a:t>;</a:t>
            </a:r>
          </a:p>
          <a:p>
            <a:pPr lvl="0"/>
            <a:r>
              <a:rPr/>
              <a:t>calendar-only cells: </a:t>
            </a:r>
            <a:r>
              <a:rPr b="1"/>
              <a:t>138</a:t>
            </a:r>
            <a:r>
              <a:rPr/>
              <a:t>.</a:t>
            </a:r>
          </a:p>
        </p:txBody>
      </p:sp>
      <p:pic>
        <p:nvPicPr>
          <p:cNvPr descr="../../public-data-freshness/generated/charts/public-data-freshness-03-domain-clock-decomposition.sv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711200"/>
            <a:ext cx="5105400" cy="3378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5 — The finding is concentrated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Environment contributes 80 disagreements; health 40; education 11.</a:t>
            </a:r>
          </a:p>
          <a:p>
            <a:pPr lvl="0" indent="0" marL="0">
              <a:buNone/>
            </a:pPr>
            <a:r>
              <a:rPr/>
              <a:t>Removing environment lowers disagreement to </a:t>
            </a:r>
            <a:r>
              <a:rPr b="1"/>
              <a:t>9.2%</a:t>
            </a:r>
            <a:r>
              <a:rPr/>
              <a:t>, below the frozen 10% gate.</a:t>
            </a:r>
          </a:p>
        </p:txBody>
      </p:sp>
      <p:pic>
        <p:nvPicPr>
          <p:cNvPr descr="../../public-data-freshness/generated/charts/public-data-freshness-06-domain-concentration.sv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647700"/>
            <a:ext cx="5105400" cy="3505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6 — Missingness is not freshness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Baseline coverage: 709 of 756 cells.</a:t>
            </a:r>
          </a:p>
          <a:p>
            <a:pPr lvl="0" indent="0" marL="0">
              <a:buNone/>
            </a:pPr>
            <a:r>
              <a:rPr/>
              <a:t>Pacific small-island missing share: </a:t>
            </a:r>
            <a:r>
              <a:rPr b="1"/>
              <a:t>15.7%</a:t>
            </a:r>
            <a:r>
              <a:rPr/>
              <a:t>. Other roster economies: </a:t>
            </a:r>
            <a:r>
              <a:rPr b="1"/>
              <a:t>2.4%</a:t>
            </a:r>
            <a:r>
              <a:rPr/>
              <a:t>.</a:t>
            </a:r>
          </a:p>
        </p:txBody>
      </p:sp>
      <p:pic>
        <p:nvPicPr>
          <p:cNvPr descr="../../public-data-freshness/generated/charts/public-data-freshness-08-pacific-group-diagnostic.sv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609600"/>
            <a:ext cx="5105400" cy="3568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7 — The threshold must be visible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Disagreement at effective cutoffs:</a:t>
            </a:r>
          </a:p>
          <a:p>
            <a:pPr lvl="0"/>
            <a:r>
              <a:rPr/>
              <a:t>two years: </a:t>
            </a:r>
            <a:r>
              <a:rPr b="1"/>
              <a:t>52.6%</a:t>
            </a:r>
            <a:r>
              <a:rPr/>
              <a:t>;</a:t>
            </a:r>
          </a:p>
          <a:p>
            <a:pPr lvl="0"/>
            <a:r>
              <a:rPr/>
              <a:t>three years: </a:t>
            </a:r>
            <a:r>
              <a:rPr b="1"/>
              <a:t>19.5%</a:t>
            </a:r>
            <a:r>
              <a:rPr/>
              <a:t>;</a:t>
            </a:r>
          </a:p>
          <a:p>
            <a:pPr lvl="0"/>
            <a:r>
              <a:rPr/>
              <a:t>five years: </a:t>
            </a:r>
            <a:r>
              <a:rPr b="1"/>
              <a:t>0.7%</a:t>
            </a:r>
            <a:r>
              <a:rPr/>
              <a:t>.</a:t>
            </a:r>
          </a:p>
        </p:txBody>
      </p:sp>
      <p:pic>
        <p:nvPicPr>
          <p:cNvPr descr="../../public-data-freshness/generated/charts/public-data-freshness-10-threshold-sensitivity.sv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762000"/>
            <a:ext cx="5105400" cy="3263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8 — Product rule and boundary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Show latest year, indicator frontier, relative lag, missingness, and the chosen cutoff. Do not turn them into an economy score.</a:t>
            </a:r>
          </a:p>
          <a:p>
            <a:pPr lvl="0" indent="0" marL="0">
              <a:buNone/>
            </a:pPr>
            <a:r>
              <a:rPr/>
              <a:t>Reproduce: </a:t>
            </a:r>
            <a:r>
              <a:rPr>
                <a:latin typeface="Courier"/>
              </a:rPr>
              <a:t>python public-data-freshness/scripts/build-freshness-panel.py</a:t>
            </a:r>
          </a:p>
        </p:txBody>
      </p:sp>
      <p:pic>
        <p:nvPicPr>
          <p:cNvPr descr="../../public-data-freshness/generated/charts/public-data-freshness-12-claim-gate.sv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117600"/>
            <a:ext cx="5105400" cy="2565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data year has two clocks</dc:title>
  <dc:creator/>
  <cp:keywords/>
  <dcterms:created xsi:type="dcterms:W3CDTF">2026-07-18T22:53:43Z</dcterms:created>
  <dcterms:modified xsi:type="dcterms:W3CDTF">2026-07-18T22:53:43Z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bstract">
    <vt:lpwstr>Nine-slide presentation of the public-data-freshness study.</vt:lpwstr>
  </property>
  <property fmtid="{D5CDD505-2E9C-101B-9397-08002B2CF9AE}" pid="3" name="affiliations">
    <vt:lpwstr/>
  </property>
  <property fmtid="{D5CDD505-2E9C-101B-9397-08002B2CF9AE}" pid="4" name="attestation_chain">
    <vt:lpwstr>ai-first</vt:lpwstr>
  </property>
  <property fmtid="{D5CDD505-2E9C-101B-9397-08002B2CF9AE}" pid="5" name="authors">
    <vt:lpwstr/>
  </property>
  <property fmtid="{D5CDD505-2E9C-101B-9397-08002B2CF9AE}" pid="6" name="banned_words_check">
    <vt:lpwstr>passing</vt:lpwstr>
  </property>
  <property fmtid="{D5CDD505-2E9C-101B-9397-08002B2CF9AE}" pid="7" name="biblio-config">
    <vt:lpwstr>True</vt:lpwstr>
  </property>
  <property fmtid="{D5CDD505-2E9C-101B-9397-08002B2CF9AE}" pid="8" name="by-affiliation">
    <vt:lpwstr/>
  </property>
  <property fmtid="{D5CDD505-2E9C-101B-9397-08002B2CF9AE}" pid="9" name="by-author">
    <vt:lpwstr/>
  </property>
  <property fmtid="{D5CDD505-2E9C-101B-9397-08002B2CF9AE}" pid="10" name="constitution_ref">
    <vt:lpwstr>§18 ACTIVE 2026-04-25</vt:lpwstr>
  </property>
  <property fmtid="{D5CDD505-2E9C-101B-9397-08002B2CF9AE}" pid="11" name="dmc_framing_check">
    <vt:lpwstr>passing</vt:lpwstr>
  </property>
  <property fmtid="{D5CDD505-2E9C-101B-9397-08002B2CF9AE}" pid="12" name="engines">
    <vt:lpwstr/>
  </property>
  <property fmtid="{D5CDD505-2E9C-101B-9397-08002B2CF9AE}" pid="13" name="geographies">
    <vt:lpwstr/>
  </property>
  <property fmtid="{D5CDD505-2E9C-101B-9397-08002B2CF9AE}" pid="14" name="header-includes">
    <vt:lpwstr/>
  </property>
  <property fmtid="{D5CDD505-2E9C-101B-9397-08002B2CF9AE}" pid="15" name="include-after">
    <vt:lpwstr/>
  </property>
  <property fmtid="{D5CDD505-2E9C-101B-9397-08002B2CF9AE}" pid="16" name="include-before">
    <vt:lpwstr/>
  </property>
  <property fmtid="{D5CDD505-2E9C-101B-9397-08002B2CF9AE}" pid="17" name="kind">
    <vt:lpwstr>slides</vt:lpwstr>
  </property>
  <property fmtid="{D5CDD505-2E9C-101B-9397-08002B2CF9AE}" pid="18" name="labels">
    <vt:lpwstr/>
  </property>
  <property fmtid="{D5CDD505-2E9C-101B-9397-08002B2CF9AE}" pid="19" name="license">
    <vt:lpwstr/>
  </property>
  <property fmtid="{D5CDD505-2E9C-101B-9397-08002B2CF9AE}" pid="20" name="maturity">
    <vt:lpwstr>PP</vt:lpwstr>
  </property>
  <property fmtid="{D5CDD505-2E9C-101B-9397-08002B2CF9AE}" pid="21" name="program">
    <vt:lpwstr>public-data-freshness</vt:lpwstr>
  </property>
  <property fmtid="{D5CDD505-2E9C-101B-9397-08002B2CF9AE}" pid="22" name="published_at">
    <vt:lpwstr>2026-07-19</vt:lpwstr>
  </property>
  <property fmtid="{D5CDD505-2E9C-101B-9397-08002B2CF9AE}" pid="23" name="slug">
    <vt:lpwstr>public-data-freshness-two-clocks-slides</vt:lpwstr>
  </property>
  <property fmtid="{D5CDD505-2E9C-101B-9397-08002B2CF9AE}" pid="24" name="status">
    <vt:lpwstr>draft</vt:lpwstr>
  </property>
  <property fmtid="{D5CDD505-2E9C-101B-9397-08002B2CF9AE}" pid="25" name="subtitle">
    <vt:lpwstr>Nine slides on domain-aware freshness review in WDI dashboards.</vt:lpwstr>
  </property>
  <property fmtid="{D5CDD505-2E9C-101B-9397-08002B2CF9AE}" pid="26" name="toc-title">
    <vt:lpwstr>Table of contents</vt:lpwstr>
  </property>
  <property fmtid="{D5CDD505-2E9C-101B-9397-08002B2CF9AE}" pid="27" name="topics">
    <vt:lpwstr/>
  </property>
</Properties>
</file>