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stable top five was fixed by a missing-data rule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Social-protection construct validation —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claim fails three validity gates</a:t>
            </a:r>
          </a:p>
        </p:txBody>
      </p:sp>
      <p:pic>
        <p:nvPicPr>
          <p:cNvPr descr="../../social-protection-shock-coverage/generated/charts/sp-three-gate-valid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45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panel’s own value order changes two members</a:t>
            </a:r>
          </a:p>
        </p:txBody>
      </p:sp>
      <p:pic>
        <p:nvPicPr>
          <p:cNvPr descr="../../social-protection-shock-coverage/generated/charts/sp-dropped-leg-rank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9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Mean imputation does not restore the published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Vanuatu: 13.6 committed; 10.4 after mean-imputing account ownership.</a:t>
            </a:r>
          </a:p>
          <a:p>
            <a:pPr lvl="0"/>
            <a:r>
              <a:rPr/>
              <a:t>Tajikistan: 3.7 committed; 3.3 after mean-imputing all-SP coverage.</a:t>
            </a:r>
          </a:p>
          <a:p>
            <a:pPr lvl="0"/>
            <a:r>
              <a:rPr/>
              <a:t>Both remain above the Philippines at 2.8 and Bangladesh at 2.7.</a:t>
            </a:r>
          </a:p>
          <a:p>
            <a:pPr lvl="0"/>
            <a:r>
              <a:rPr/>
              <a:t>This is a falsification diagnostic, not an endorsed imputation model.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Changing the coverage construct changes the membership</a:t>
            </a:r>
          </a:p>
        </p:txBody>
      </p:sp>
      <p:pic>
        <p:nvPicPr>
          <p:cNvPr descr="../../social-protection-shock-coverage/generated/charts/sp-membership-chur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3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variant also mixes different policy eras</a:t>
            </a:r>
          </a:p>
        </p:txBody>
      </p:sp>
      <p:pic>
        <p:nvPicPr>
          <p:cNvPr descr="../../social-protection-shock-coverage/generated/charts/sp-vintage-profi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29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direct source records instruments, not receipt</a:t>
            </a:r>
          </a:p>
        </p:txBody>
      </p:sp>
      <p:pic>
        <p:nvPicPr>
          <p:cNvPr descr="../../social-protection-shock-coverage/generated/charts/sp-covid-response-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01800" y="1193800"/>
            <a:ext cx="575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composite does not align with response breadth</a:t>
            </a:r>
          </a:p>
        </p:txBody>
      </p:sp>
      <p:pic>
        <p:nvPicPr>
          <p:cNvPr descr="../../social-protection-shock-coverage/generated/charts/sp-proxy-vs-response-bread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rows do not close the outcome gap</a:t>
            </a:r>
          </a:p>
        </p:txBody>
      </p:sp>
      <p:pic>
        <p:nvPicPr>
          <p:cNvPr descr="../../social-protection-shock-coverage/generated/charts/sp-source-alignment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Retire the ranking; specify the next data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next study begins with an event-level public table:</a:t>
            </a:r>
          </a:p>
          <a:p>
            <a:pPr lvl="0" indent="-342900" marL="342900">
              <a:buAutoNum type="arabicPeriod"/>
            </a:pPr>
            <a:r>
              <a:rPr/>
              <a:t>shock and reference date;</a:t>
            </a:r>
          </a:p>
          <a:p>
            <a:pPr lvl="0" indent="-342900" marL="342900">
              <a:buAutoNum type="arabicPeriod"/>
            </a:pPr>
            <a:r>
              <a:rPr/>
              <a:t>affected or eligible population;</a:t>
            </a:r>
          </a:p>
          <a:p>
            <a:pPr lvl="0" indent="-342900" marL="342900">
              <a:buAutoNum type="arabicPeriod"/>
            </a:pPr>
            <a:r>
              <a:rPr/>
              <a:t>planned and actual recipients;</a:t>
            </a:r>
          </a:p>
          <a:p>
            <a:pPr lvl="0" indent="-342900" marL="342900">
              <a:buAutoNum type="arabicPeriod"/>
            </a:pPr>
            <a:r>
              <a:rPr/>
              <a:t>successful and failed payments;</a:t>
            </a:r>
          </a:p>
          <a:p>
            <a:pPr lvl="0" indent="-342900" marL="342900">
              <a:buAutoNum type="arabicPeriod"/>
            </a:pPr>
            <a:r>
              <a:rPr/>
              <a:t>initiation and receipt timestamps;</a:t>
            </a:r>
          </a:p>
          <a:p>
            <a:pPr lvl="0" indent="-342900" marL="342900">
              <a:buAutoNum type="arabicPeriod"/>
            </a:pPr>
            <a:r>
              <a:rPr/>
              <a:t>amount, channel, geography, and program identifier.</a:t>
            </a:r>
          </a:p>
          <a:p>
            <a:pPr lvl="0" indent="0" marL="0">
              <a:buNone/>
            </a:pPr>
            <a:r>
              <a:rPr b="1"/>
              <a:t>Decision:</a:t>
            </a:r>
            <a:r>
              <a:rPr/>
              <a:t> no replacement readiness ranking from the current source stack.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stable top five was fixed by a missing-data rule</dc:title>
  <dc:creator>Raymond Adofina · Asian Development Bank</dc:creator>
  <cp:keywords/>
  <dcterms:created xsi:type="dcterms:W3CDTF">2026-07-18T14:29:01Z</dcterms:created>
  <dcterms:modified xsi:type="dcterms:W3CDTF">2026-07-18T14:29:01Z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2026-07-18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PP</vt:lpwstr>
  </property>
  <property fmtid="{D5CDD505-2E9C-101B-9397-08002B2CF9AE}" pid="19" name="program">
    <vt:lpwstr>social-protection-shock-coverage</vt:lpwstr>
  </property>
  <property fmtid="{D5CDD505-2E9C-101B-9397-08002B2CF9AE}" pid="20" name="slug">
    <vt:lpwstr>sp-shock-readiness-cluster-deck</vt:lpwstr>
  </property>
  <property fmtid="{D5CDD505-2E9C-101B-9397-08002B2CF9AE}" pid="21" name="status">
    <vt:lpwstr>draft</vt:lpwstr>
  </property>
  <property fmtid="{D5CDD505-2E9C-101B-9397-08002B2CF9AE}" pid="22" name="subtitle">
    <vt:lpwstr>Social-protection construct validation — AI-first under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