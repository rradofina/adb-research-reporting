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plausible heat-reliability story fails its regional measurement test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Generation concentration survives; the heat-outage direction does not — AI-first under §18</a:t>
            </a:r>
            <a:br/>
            <a:br/>
            <a:r>
              <a:rPr/>
              <a:t>Raymond Adofina · Asian Development Bank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2026-07-18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result survives; one does not</a:t>
            </a:r>
          </a:p>
        </p:txBody>
      </p:sp>
      <p:pic>
        <p:nvPicPr>
          <p:cNvPr descr="../../grid-reliability-heat/generated/charts/grid-two-gate-valid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85900" y="1193800"/>
            <a:ext cx="6172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Built diversity can disappear in generation</a:t>
            </a:r>
          </a:p>
        </p:txBody>
      </p:sp>
      <p:pic>
        <p:nvPicPr>
          <p:cNvPr descr="../../grid-reliability-heat/generated/charts/grid-capacity-generation-concentr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71700" y="1193800"/>
            <a:ext cx="4787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public bridge is real but narrow</a:t>
            </a:r>
          </a:p>
        </p:txBody>
      </p:sp>
      <p:pic>
        <p:nvPicPr>
          <p:cNvPr descr="../../grid-reliability-heat/generated/charts/grid-source-alignment-funn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93900" y="1193800"/>
            <a:ext cx="5143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Exact-year does not mean comparable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451 country-year-outcome rows across 36 economies, 2007–2022.</a:t>
            </a:r>
          </a:p>
          <a:p>
            <a:pPr lvl="0"/>
            <a:r>
              <a:rPr/>
              <a:t>Three heat definitions; five reliability outcomes.</a:t>
            </a:r>
          </a:p>
          <a:p>
            <a:pPr lvl="0"/>
            <a:r>
              <a:rPr/>
              <a:t>Firm surveys arrive in waves; Doing Business SAIDI is a separate method.</a:t>
            </a:r>
          </a:p>
          <a:p>
            <a:pPr lvl="0"/>
            <a:r>
              <a:rPr/>
              <a:t>Annual country heat does not observe event timing or service territory.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Reliability proxies arrive in different vintages</a:t>
            </a:r>
          </a:p>
        </p:txBody>
      </p:sp>
      <p:pic>
        <p:nvPicPr>
          <p:cNvPr descr="../../grid-reliability-heat/generated/charts/grid-reliability-proxy-vintag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28800" y="1193800"/>
            <a:ext cx="5486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direction changes with the construct</a:t>
            </a:r>
          </a:p>
        </p:txBody>
      </p:sp>
      <p:pic>
        <p:nvPicPr>
          <p:cNvPr descr="../../grid-reliability-heat/generated/charts/grid-heat-reliability-correlation-matri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74900" y="1193800"/>
            <a:ext cx="4394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Country weighting changes apparent relationships</a:t>
            </a:r>
          </a:p>
        </p:txBody>
      </p:sp>
      <p:pic>
        <p:nvPicPr>
          <p:cNvPr descr="../../grid-reliability-heat/generated/charts/grid-heat-reliability-sensitiv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11400" y="1193800"/>
            <a:ext cx="4521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Fuel concentration is not current reliability</a:t>
            </a:r>
          </a:p>
        </p:txBody>
      </p:sp>
      <p:pic>
        <p:nvPicPr>
          <p:cNvPr descr="../../grid-reliability-heat/generated/charts/grid-generation-reliability-associ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82800" y="1193800"/>
            <a:ext cx="4991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Publish the boundary, not a 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Supported:</a:t>
            </a:r>
            <a:r>
              <a:rPr/>
              <a:t> the same five economies top capacity- and generation-based fuel concentration.</a:t>
            </a:r>
          </a:p>
          <a:p>
            <a:pPr lvl="0" indent="0" marL="0">
              <a:buNone/>
            </a:pPr>
            <a:r>
              <a:rPr b="1"/>
              <a:t>Not supported:</a:t>
            </a:r>
            <a:r>
              <a:rPr/>
              <a:t> a directional regional heat–reliability association or vulnerability leaderboard.</a:t>
            </a:r>
          </a:p>
          <a:p>
            <a:pPr lvl="0" indent="0" marL="0">
              <a:buNone/>
            </a:pPr>
            <a:r>
              <a:rPr b="1"/>
              <a:t>Next object:</a:t>
            </a:r>
            <a:r>
              <a:rPr/>
              <a:t> interruption timing, customers or load affected, daily/hourly heat, demand, available generation, imports, maintenance, and network conditions at a common service territory.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plausible heat-reliability story fails its regional measurement test</dc:title>
  <dc:creator>Raymond Adofina · Asian Development Bank</dc:creator>
  <cp:keywords/>
  <dcterms:created xsi:type="dcterms:W3CDTF">2026-07-18T13:03:49Z</dcterms:created>
  <dcterms:modified xsi:type="dcterms:W3CDTF">2026-07-18T13:03:49Z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estation_chain">
    <vt:lpwstr>ai-first</vt:lpwstr>
  </property>
  <property fmtid="{D5CDD505-2E9C-101B-9397-08002B2CF9AE}" pid="3" name="authors">
    <vt:lpwstr/>
  </property>
  <property fmtid="{D5CDD505-2E9C-101B-9397-08002B2CF9AE}" pid="4" name="banned_words_check">
    <vt:lpwstr>passing</vt:lpwstr>
  </property>
  <property fmtid="{D5CDD505-2E9C-101B-9397-08002B2CF9AE}" pid="5" name="biblio-config">
    <vt:lpwstr>True</vt:lpwstr>
  </property>
  <property fmtid="{D5CDD505-2E9C-101B-9397-08002B2CF9AE}" pid="6" name="by-author">
    <vt:lpwstr/>
  </property>
  <property fmtid="{D5CDD505-2E9C-101B-9397-08002B2CF9AE}" pid="7" name="constitution_ref">
    <vt:lpwstr>§18 ACTIVE</vt:lpwstr>
  </property>
  <property fmtid="{D5CDD505-2E9C-101B-9397-08002B2CF9AE}" pid="8" name="date">
    <vt:lpwstr>2026-07-18</vt:lpwstr>
  </property>
  <property fmtid="{D5CDD505-2E9C-101B-9397-08002B2CF9AE}" pid="9" name="dmc_framing_check">
    <vt:lpwstr>passing</vt:lpwstr>
  </property>
  <property fmtid="{D5CDD505-2E9C-101B-9397-08002B2CF9AE}" pid="10" name="engines">
    <vt:lpwstr/>
  </property>
  <property fmtid="{D5CDD505-2E9C-101B-9397-08002B2CF9AE}" pid="11" name="geographies">
    <vt:lpwstr/>
  </property>
  <property fmtid="{D5CDD505-2E9C-101B-9397-08002B2CF9AE}" pid="12" name="header-includes">
    <vt:lpwstr/>
  </property>
  <property fmtid="{D5CDD505-2E9C-101B-9397-08002B2CF9AE}" pid="13" name="include-after">
    <vt:lpwstr/>
  </property>
  <property fmtid="{D5CDD505-2E9C-101B-9397-08002B2CF9AE}" pid="14" name="include-before">
    <vt:lpwstr/>
  </property>
  <property fmtid="{D5CDD505-2E9C-101B-9397-08002B2CF9AE}" pid="15" name="kind">
    <vt:lpwstr>deck</vt:lpwstr>
  </property>
  <property fmtid="{D5CDD505-2E9C-101B-9397-08002B2CF9AE}" pid="16" name="labels">
    <vt:lpwstr/>
  </property>
  <property fmtid="{D5CDD505-2E9C-101B-9397-08002B2CF9AE}" pid="17" name="license">
    <vt:lpwstr/>
  </property>
  <property fmtid="{D5CDD505-2E9C-101B-9397-08002B2CF9AE}" pid="18" name="maturity">
    <vt:lpwstr>PP</vt:lpwstr>
  </property>
  <property fmtid="{D5CDD505-2E9C-101B-9397-08002B2CF9AE}" pid="19" name="program">
    <vt:lpwstr>grid-reliability-heat</vt:lpwstr>
  </property>
  <property fmtid="{D5CDD505-2E9C-101B-9397-08002B2CF9AE}" pid="20" name="slug">
    <vt:lpwstr>grid-reliability-heat-deck</vt:lpwstr>
  </property>
  <property fmtid="{D5CDD505-2E9C-101B-9397-08002B2CF9AE}" pid="21" name="status">
    <vt:lpwstr>draft</vt:lpwstr>
  </property>
  <property fmtid="{D5CDD505-2E9C-101B-9397-08002B2CF9AE}" pid="22" name="subtitle">
    <vt:lpwstr>Generation concentration survives; the heat-outage direction does not — AI-first under §18</vt:lpwstr>
  </property>
  <property fmtid="{D5CDD505-2E9C-101B-9397-08002B2CF9AE}" pid="23" name="tier">
    <vt:lpwstr>slides</vt:lpwstr>
  </property>
  <property fmtid="{D5CDD505-2E9C-101B-9397-08002B2CF9AE}" pid="24" name="toc-title">
    <vt:lpwstr>Table of contents</vt:lpwstr>
  </property>
  <property fmtid="{D5CDD505-2E9C-101B-9397-08002B2CF9AE}" pid="25" name="topics">
    <vt:lpwstr/>
  </property>
</Properties>
</file>