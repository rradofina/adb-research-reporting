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9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Low-elevation urban growth is concentrated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From an inherited national proxy to a direct urban-centre exposure object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1 · Finding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+90.9 million people</a:t>
            </a:r>
            <a:r>
              <a:rPr/>
              <a:t> recorded below 10 metres across 1,334 reporting urban centres, 2000–2020.</a:t>
            </a:r>
          </a:p>
        </p:txBody>
      </p:sp>
      <p:pic>
        <p:nvPicPr>
          <p:cNvPr descr="../../coastal-informal-risk/generated/charts/coastal-informal-risk-01-growth-hero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47700"/>
            <a:ext cx="5105400" cy="349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2 · Named centres drive the aggregate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Shanghai, Bangkok, and Dhaka lead. The top ten centres account for 52.1% of positive change.</a:t>
            </a:r>
          </a:p>
        </p:txBody>
      </p:sp>
      <p:pic>
        <p:nvPicPr>
          <p:cNvPr descr="../../coastal-informal-risk/generated/charts/coastal-informal-risk-10-growth-concentra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723900"/>
            <a:ext cx="5105400" cy="3340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3 · The old ranking was a different construct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Only China and Bangladesh appear in both top-five economy sets.</a:t>
            </a:r>
          </a:p>
        </p:txBody>
      </p:sp>
      <p:pic>
        <p:nvPicPr>
          <p:cNvPr descr="../../coastal-informal-risk/generated/charts/coastal-informal-risk-03-proxy-falsifica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47700"/>
            <a:ext cx="5105400" cy="349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4 · A second quantity corroborates the pattern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Population and built-up change below 10 metres correlate at 0.85.</a:t>
            </a:r>
          </a:p>
        </p:txBody>
      </p:sp>
      <p:pic>
        <p:nvPicPr>
          <p:cNvPr descr="../../coastal-informal-risk/generated/charts/coastal-informal-risk-07-population-built-corrobora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596900"/>
            <a:ext cx="5105400" cy="3594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5 · Shares can conceal counts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255 centres gained low-elevation population while the share fell.</a:t>
            </a:r>
          </a:p>
        </p:txBody>
      </p:sp>
      <p:pic>
        <p:nvPicPr>
          <p:cNvPr descr="../../coastal-informal-risk/generated/charts/coastal-informal-risk-08-absolute-versus-sha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85800"/>
            <a:ext cx="5105400" cy="3416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6 · Elevation sensitivity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2000–2020 increase is +34.6 million below 5 metres and +90.9 million below 10 metres.</a:t>
            </a:r>
          </a:p>
        </p:txBody>
      </p:sp>
      <p:pic>
        <p:nvPicPr>
          <p:cNvPr descr="../../coastal-informal-risk/generated/charts/coastal-informal-risk-05-elevation-sensitivit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09600"/>
            <a:ext cx="5105400" cy="3581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7 · ±50% time-window sensitivity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10-, 20-, and 30-year run is positive under both thresholds.</a:t>
            </a:r>
          </a:p>
        </p:txBody>
      </p:sp>
      <p:pic>
        <p:nvPicPr>
          <p:cNvPr descr="../../coastal-informal-risk/generated/charts/coastal-informal-risk-06-window-sensitivit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85800"/>
            <a:ext cx="5105400" cy="3429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8 · Coverage is the binding limit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source-matched roster has 5,347 centres; 1,334 report the required block. No blank is converted to zero.</a:t>
            </a:r>
          </a:p>
        </p:txBody>
      </p:sp>
      <p:pic>
        <p:nvPicPr>
          <p:cNvPr descr="../../coastal-informal-risk/generated/charts/coastal-informal-risk-11-coverage-funne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89000"/>
            <a:ext cx="5105400" cy="2997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9 · Claim gate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object measures exposure growth. It does not identify flood loss, informality, deprivation, protection, or policy quality.</a:t>
            </a:r>
          </a:p>
        </p:txBody>
      </p:sp>
      <p:pic>
        <p:nvPicPr>
          <p:cNvPr descr="../../coastal-informal-risk/generated/charts/coastal-informal-risk-12-method-and-claim-gat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65200"/>
            <a:ext cx="5105400" cy="2857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 · Next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Take a small set of leading centres and add local hazard, subsidence, protection, planning-boundary, and validated housing or service data.</a:t>
            </a:r>
          </a:p>
          <a:p>
            <a:pPr lvl="0" indent="0" marL="0">
              <a:buNone/>
            </a:pPr>
            <a:r>
              <a:rPr i="1"/>
              <a:t>AI-first prepared pipeline; not externally reviewed.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Low-elevation urban growth is concentrated</dc:title>
  <dc:creator/>
  <cp:keywords/>
  <dcterms:created xsi:type="dcterms:W3CDTF">2026-07-18T22:46:49Z</dcterms:created>
  <dcterms:modified xsi:type="dcterms:W3CDTF">2026-07-18T22:46:49Z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estation_chain">
    <vt:lpwstr>ai-first</vt:lpwstr>
  </property>
  <property fmtid="{D5CDD505-2E9C-101B-9397-08002B2CF9AE}" pid="3" name="biblio-config">
    <vt:lpwstr>True</vt:lpwstr>
  </property>
  <property fmtid="{D5CDD505-2E9C-101B-9397-08002B2CF9AE}" pid="4" name="engines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maturity">
    <vt:lpwstr>PP</vt:lpwstr>
  </property>
  <property fmtid="{D5CDD505-2E9C-101B-9397-08002B2CF9AE}" pid="10" name="program">
    <vt:lpwstr>coastal-informal-risk</vt:lpwstr>
  </property>
  <property fmtid="{D5CDD505-2E9C-101B-9397-08002B2CF9AE}" pid="11" name="slug">
    <vt:lpwstr>coastal-informal-cluster-slides</vt:lpwstr>
  </property>
  <property fmtid="{D5CDD505-2E9C-101B-9397-08002B2CF9AE}" pid="12" name="subtitle">
    <vt:lpwstr>From an inherited national proxy to a direct urban-centre exposure object</vt:lpwstr>
  </property>
  <property fmtid="{D5CDD505-2E9C-101B-9397-08002B2CF9AE}" pid="13" name="toc-title">
    <vt:lpwstr>Table of contents</vt:lpwstr>
  </property>
</Properties>
</file>